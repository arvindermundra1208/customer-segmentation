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3" r:id="rId4"/>
    <p:sldMasterId id="2147483764" r:id="rId5"/>
    <p:sldMasterId id="2147483765" r:id="rId6"/>
    <p:sldMasterId id="2147483766" r:id="rId7"/>
    <p:sldMasterId id="2147483767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</p:sldIdLst>
  <p:sldSz cy="6858000" cx="9144000"/>
  <p:notesSz cx="6858000" cy="9144000"/>
  <p:embeddedFontLst>
    <p:embeddedFont>
      <p:font typeface="Play"/>
      <p:regular r:id="rId38"/>
      <p:bold r:id="rId39"/>
    </p:embeddedFont>
    <p:embeddedFont>
      <p:font typeface="Inter"/>
      <p:regular r:id="rId40"/>
      <p:bold r:id="rId41"/>
      <p:italic r:id="rId42"/>
      <p:boldItalic r:id="rId43"/>
    </p:embeddedFont>
    <p:embeddedFont>
      <p:font typeface="Inter ExtraBold"/>
      <p:bold r:id="rId44"/>
      <p:boldItalic r:id="rId45"/>
    </p:embeddedFont>
    <p:embeddedFont>
      <p:font typeface="Roboto Mono"/>
      <p:regular r:id="rId46"/>
      <p:bold r:id="rId47"/>
      <p:italic r:id="rId48"/>
      <p:boldItalic r:id="rId4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regular.fntdata"/><Relationship Id="rId42" Type="http://schemas.openxmlformats.org/officeDocument/2006/relationships/font" Target="fonts/Inter-italic.fntdata"/><Relationship Id="rId41" Type="http://schemas.openxmlformats.org/officeDocument/2006/relationships/font" Target="fonts/Inter-bold.fntdata"/><Relationship Id="rId44" Type="http://schemas.openxmlformats.org/officeDocument/2006/relationships/font" Target="fonts/InterExtraBold-bold.fntdata"/><Relationship Id="rId43" Type="http://schemas.openxmlformats.org/officeDocument/2006/relationships/font" Target="fonts/Inter-boldItalic.fntdata"/><Relationship Id="rId46" Type="http://schemas.openxmlformats.org/officeDocument/2006/relationships/font" Target="fonts/RobotoMono-regular.fntdata"/><Relationship Id="rId45" Type="http://schemas.openxmlformats.org/officeDocument/2006/relationships/font" Target="fonts/InterExtraBold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font" Target="fonts/Play-bold.fntdata"/><Relationship Id="rId38" Type="http://schemas.openxmlformats.org/officeDocument/2006/relationships/font" Target="fonts/Play-regular.fntdata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11" Type="http://schemas.openxmlformats.org/officeDocument/2006/relationships/slide" Target="slides/slide2.xml"/><Relationship Id="rId10" Type="http://schemas.openxmlformats.org/officeDocument/2006/relationships/slide" Target="slides/slide1.xml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3d676a4554e_62_796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d676a4554e_62_926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d676a4554e_0_14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g3d676a4554e_62_486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g3d676a4554e_62_122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g3d676a4554e_62_159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g3d676a4554e_62_106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0" name="Google Shape;970;g3d676a4554e_62_10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3d676a4554e_62_243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g3d676a4554e_62_112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4" name="Google Shape;1004;g3d676a4554e_62_11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d676a4554e_62_29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3d676a4554e_62_119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3d676a4554e_62_11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d676a4554e_62_31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d676a4554e_62_3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3d676a4554e_62_406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3d676a4554e_62_43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3d676a4554e_62_4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5" name="Google Shape;1135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1" name="Google Shape;1171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d676a4554e_62_138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g3d676a4554e_62_1459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3d676a4554e_62_72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3d676a4554e_62_7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g3d676a4554e_62_854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3d676a4554e_62_1647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(g3d676a4554e_7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g3d676a4554e_29_0)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76a4554e_54_0)">
  <p:cSld name="Generated (g3d676a4554e_54_0)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(g3d676a4554e_44_0)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1">
  <p:cSld name="Title and Content (g3d676a4554e_36_0)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2" name="Google Shape;102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Title and Content (g3d676a4554e_72_0)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6" name="Google Shape;126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7" name="Google Shape;137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3" name="Google Shape;143;p24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4" name="Google Shape;144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0" name="Google Shape;150;p25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1" name="Google Shape;151;p25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52" name="Google Shape;152;p25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53" name="Google Shape;153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63" name="Google Shape;163;p27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64" name="Google Shape;164;p2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71" name="Google Shape;171;p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2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3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3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3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(g3d676a4554e_7_0)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3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9" name="Google Shape;189;p3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3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g3d676a4554e_29_0)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3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3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76a4554e_54_0)">
  <p:cSld name="Generated (g3d676a4554e_54_0)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(g3d676a4554e_44_0)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3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1">
  <p:cSld name="Title and Content (g3d676a4554e_36_0)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8" name="Google Shape;208;p3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3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Title and Content (g3d676a4554e_72_0)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3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3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Title and Content (g3d676a4554e_317_0)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3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3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3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">
  <p:cSld name="Title and Content (g3d676a4554e_262_0)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3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3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 1">
  <p:cSld name="Title and Content (g3d676a4554e_255_0)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2" name="Google Shape;232;p3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(g3d676a4554e_206_0)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4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4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4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 Only (g3d676a4554e_140_0)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4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4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4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">
  <p:cSld name="Title Only (g3d676a4554e_90_0)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4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4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4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Title and Content (g3d676a4554e_270_0)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3" name="Google Shape;253;p4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4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4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5" name="Google Shape;265;p4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4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4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4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1" name="Google Shape;271;p4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4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3" name="Google Shape;273;p4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4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4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4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8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48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2" name="Google Shape;282;p4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4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4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4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8" name="Google Shape;288;p4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89" name="Google Shape;289;p4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4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4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4" name="Google Shape;294;p5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5" name="Google Shape;295;p5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6" name="Google Shape;296;p5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97" name="Google Shape;297;p5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298" name="Google Shape;298;p5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5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5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5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4" name="Google Shape;304;p5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2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308" name="Google Shape;308;p5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09" name="Google Shape;309;p5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5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5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5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5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15" name="Google Shape;315;p5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316" name="Google Shape;316;p5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5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1" name="Google Shape;321;p5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2" name="Google Shape;322;p5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5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5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5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55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8" name="Google Shape;328;p5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9" name="Google Shape;329;p5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5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(g3d676a4554e_7_0)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5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4" name="Google Shape;334;p5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5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6" name="Google Shape;336;p5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g3d676a4554e_29_0)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9" name="Google Shape;339;p5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0" name="Google Shape;340;p5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2" name="Google Shape;342;p5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76a4554e_54_0)">
  <p:cSld name="Generated (g3d676a4554e_54_0)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(g3d676a4554e_44_0)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6" name="Google Shape;346;p5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7" name="Google Shape;347;p5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8" name="Google Shape;348;p5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9" name="Google Shape;349;p5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1">
  <p:cSld name="Title and Content (g3d676a4554e_36_0)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2" name="Google Shape;352;p6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3" name="Google Shape;353;p6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6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5" name="Google Shape;355;p6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Title and Content (g3d676a4554e_72_0)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6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9" name="Google Shape;359;p6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6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1" name="Google Shape;361;p6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Title and Content (g3d676a4554e_317_0)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4" name="Google Shape;364;p6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5" name="Google Shape;365;p6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6" name="Google Shape;366;p6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7" name="Google Shape;367;p6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">
  <p:cSld name="Title and Content (g3d676a4554e_262_0)"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0" name="Google Shape;370;p6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1" name="Google Shape;371;p6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6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3" name="Google Shape;373;p6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 1">
  <p:cSld name="Title and Content (g3d676a4554e_255_0)"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6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7" name="Google Shape;377;p6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8" name="Google Shape;378;p6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9" name="Google Shape;379;p6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(g3d676a4554e_206_0)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6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3" name="Google Shape;383;p6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6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 Only (g3d676a4554e_140_0)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7" name="Google Shape;387;p6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6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6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">
  <p:cSld name="Title Only (g3d676a4554e_90_0)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2" name="Google Shape;392;p6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3" name="Google Shape;393;p6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4" name="Google Shape;394;p6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5">
  <p:cSld name="Title and Content (g3d676a4554e_270_0)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7" name="Google Shape;397;p6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8" name="Google Shape;398;p6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6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6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70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9" name="Google Shape;409;p7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10" name="Google Shape;410;p7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1" name="Google Shape;411;p7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7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7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5" name="Google Shape;415;p7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6" name="Google Shape;416;p7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7" name="Google Shape;417;p7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8" name="Google Shape;418;p7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7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1" name="Google Shape;421;p7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2" name="Google Shape;422;p7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3" name="Google Shape;423;p7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73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6" name="Google Shape;426;p73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7" name="Google Shape;427;p7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8" name="Google Shape;428;p7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7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74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3" name="Google Shape;433;p74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4" name="Google Shape;434;p7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7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6" name="Google Shape;436;p7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75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0" name="Google Shape;440;p75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1" name="Google Shape;441;p75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2" name="Google Shape;442;p75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3" name="Google Shape;443;p7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4" name="Google Shape;444;p7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5" name="Google Shape;445;p7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7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7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9" name="Google Shape;449;p7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7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2" name="Google Shape;452;p77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53" name="Google Shape;453;p77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54" name="Google Shape;454;p7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5" name="Google Shape;455;p7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8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9" name="Google Shape;459;p7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78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61" name="Google Shape;461;p7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2" name="Google Shape;462;p7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3" name="Google Shape;463;p7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6" name="Google Shape;466;p79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7" name="Google Shape;467;p7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8" name="Google Shape;468;p7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9" name="Google Shape;469;p7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80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2" name="Google Shape;472;p80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3" name="Google Shape;473;p8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4" name="Google Shape;474;p8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5" name="Google Shape;475;p8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(g3d676a4554e_7_0)"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8" name="Google Shape;478;p8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79" name="Google Shape;479;p8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0" name="Google Shape;480;p8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1" name="Google Shape;481;p8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g3d676a4554e_29_0)"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4" name="Google Shape;484;p8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5" name="Google Shape;485;p8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6" name="Google Shape;486;p8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7" name="Google Shape;487;p8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76a4554e_54_0)">
  <p:cSld name="Generated (g3d676a4554e_54_0)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(g3d676a4554e_44_0)"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1" name="Google Shape;491;p8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2" name="Google Shape;492;p8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3" name="Google Shape;493;p8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4" name="Google Shape;494;p8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1">
  <p:cSld name="Title and Content (g3d676a4554e_36_0)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7" name="Google Shape;497;p8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8" name="Google Shape;498;p8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9" name="Google Shape;499;p8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0" name="Google Shape;500;p8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Title and Content (g3d676a4554e_72_0)"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8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3" name="Google Shape;503;p8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4" name="Google Shape;504;p8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8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6" name="Google Shape;506;p8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Title and Content (g3d676a4554e_330_0)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9" name="Google Shape;509;p8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0" name="Google Shape;510;p8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1" name="Google Shape;511;p8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2" name="Google Shape;512;p8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(g3d676a4554e_283_0)"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8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5" name="Google Shape;515;p8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6" name="Google Shape;516;p8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7" name="Google Shape;517;p8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">
  <p:cSld name="Title and Content (g3d676a4554e_262_0)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8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0" name="Google Shape;520;p8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1" name="Google Shape;521;p8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2" name="Google Shape;522;p8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3" name="Google Shape;523;p8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 1">
  <p:cSld name="Title and Content (g3d676a4554e_255_0)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6" name="Google Shape;526;p9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7" name="Google Shape;527;p9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8" name="Google Shape;528;p9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9" name="Google Shape;529;p9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 Only (g3d676a4554e_206_0)"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2" name="Google Shape;532;p9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3" name="Google Shape;533;p9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4" name="Google Shape;534;p9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">
  <p:cSld name="Title Only (g3d676a4554e_140_0)"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7" name="Google Shape;537;p9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8" name="Google Shape;538;p9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9" name="Google Shape;539;p9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 1">
  <p:cSld name="Title Only (g3d676a4554e_90_0)"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2" name="Google Shape;542;p9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3" name="Google Shape;543;p9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4" name="Google Shape;544;p9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9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3" name="Google Shape;553;p9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54" name="Google Shape;554;p9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5" name="Google Shape;555;p9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6" name="Google Shape;556;p9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9" name="Google Shape;559;p9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0" name="Google Shape;560;p9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1" name="Google Shape;561;p9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2" name="Google Shape;562;p9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5" name="Google Shape;565;p9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6" name="Google Shape;566;p9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7" name="Google Shape;567;p9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8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0" name="Google Shape;570;p98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1" name="Google Shape;571;p9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2" name="Google Shape;572;p9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3" name="Google Shape;573;p9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6" name="Google Shape;576;p99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7" name="Google Shape;577;p99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578" name="Google Shape;578;p9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9" name="Google Shape;579;p9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0" name="Google Shape;580;p9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3" name="Google Shape;583;p10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4" name="Google Shape;584;p10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5" name="Google Shape;585;p10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6" name="Google Shape;586;p10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87" name="Google Shape;587;p10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8" name="Google Shape;588;p10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9" name="Google Shape;589;p10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2" name="Google Shape;592;p10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3" name="Google Shape;593;p10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2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6" name="Google Shape;596;p102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7" name="Google Shape;597;p102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8" name="Google Shape;598;p10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9" name="Google Shape;599;p10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0" name="Google Shape;600;p10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103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3" name="Google Shape;603;p10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04" name="Google Shape;604;p103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05" name="Google Shape;605;p10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6" name="Google Shape;606;p10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7" name="Google Shape;607;p10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0" name="Google Shape;610;p104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1" name="Google Shape;611;p10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2" name="Google Shape;612;p10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3" name="Google Shape;613;p10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5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6" name="Google Shape;616;p105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17" name="Google Shape;617;p10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8" name="Google Shape;618;p10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9" name="Google Shape;619;p10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 Slide (g3d676a4554e_7_0)"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06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2" name="Google Shape;622;p10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23" name="Google Shape;623;p10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4" name="Google Shape;624;p10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5" name="Google Shape;625;p10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 (g3d676a4554e_29_0)"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8" name="Google Shape;628;p10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29" name="Google Shape;629;p10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0" name="Google Shape;630;p10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1" name="Google Shape;631;p10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d676a4554e_54_0)">
  <p:cSld name="Generated (g3d676a4554e_54_0)"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">
  <p:cSld name="Title and Content (g3d676a4554e_44_0)"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5" name="Google Shape;635;p10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36" name="Google Shape;636;p10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7" name="Google Shape;637;p10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8" name="Google Shape;638;p10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2 1">
  <p:cSld name="Title and Content (g3d676a4554e_36_0)"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1" name="Google Shape;641;p11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2" name="Google Shape;642;p11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3" name="Google Shape;643;p11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4" name="Google Shape;644;p11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3">
  <p:cSld name="Title and Content (g3d676a4554e_72_0)"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7" name="Google Shape;647;p11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8" name="Google Shape;648;p1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9" name="Google Shape;649;p1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0" name="Google Shape;650;p1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">
  <p:cSld name="Title and Content (g3d676a4554e_330_0)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3" name="Google Shape;653;p11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4" name="Google Shape;654;p11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5" name="Google Shape;655;p11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6" name="Google Shape;656;p11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 (g3d676a4554e_283_0)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9" name="Google Shape;659;p1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0" name="Google Shape;660;p1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1" name="Google Shape;661;p1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">
  <p:cSld name="Title and Content (g3d676a4554e_262_0)"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4" name="Google Shape;664;p1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5" name="Google Shape;665;p1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6" name="Google Shape;666;p1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7" name="Google Shape;667;p1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4 1 1">
  <p:cSld name="Title and Content (g3d676a4554e_255_0)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0" name="Google Shape;670;p1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1" name="Google Shape;671;p1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2" name="Google Shape;672;p1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3" name="Google Shape;673;p1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 Only (g3d676a4554e_206_0)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6" name="Google Shape;676;p1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7" name="Google Shape;677;p1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8" name="Google Shape;678;p1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">
  <p:cSld name="Title Only (g3d676a4554e_140_0)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1" name="Google Shape;681;p1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2" name="Google Shape;682;p1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3" name="Google Shape;683;p1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 1">
  <p:cSld name="Title Only (g3d676a4554e_90_0)"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6" name="Google Shape;686;p1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7" name="Google Shape;687;p1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8" name="Google Shape;688;p1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2">
  <p:cSld name="Title Only 1 1 (g3d6fdf07dc7_44_0)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1" name="Google Shape;691;p1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2" name="Google Shape;692;p1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3" name="Google Shape;693;p1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 1 2">
  <p:cSld name="Title Only 1 1 1 (g3d6fdf07dc7_6_0)"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6" name="Google Shape;696;p1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7" name="Google Shape;697;p1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8" name="Google Shape;698;p1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3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38.xml"/><Relationship Id="rId24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slideLayout" Target="../slideLayouts/slideLayout20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4.xml"/><Relationship Id="rId8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35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1.xml"/><Relationship Id="rId22" Type="http://schemas.openxmlformats.org/officeDocument/2006/relationships/slideLayout" Target="../slideLayouts/slideLayout63.xml"/><Relationship Id="rId2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25" Type="http://schemas.openxmlformats.org/officeDocument/2006/relationships/theme" Target="../theme/theme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11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1.xml"/><Relationship Id="rId1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55.xml"/><Relationship Id="rId17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57.xml"/><Relationship Id="rId19" Type="http://schemas.openxmlformats.org/officeDocument/2006/relationships/slideLayout" Target="../slideLayouts/slideLayout60.xml"/><Relationship Id="rId18" Type="http://schemas.openxmlformats.org/officeDocument/2006/relationships/slideLayout" Target="../slideLayouts/slideLayout59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5.xml"/><Relationship Id="rId22" Type="http://schemas.openxmlformats.org/officeDocument/2006/relationships/slideLayout" Target="../slideLayouts/slideLayout87.xml"/><Relationship Id="rId2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89.xml"/><Relationship Id="rId23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6.xml"/><Relationship Id="rId2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1.xml"/><Relationship Id="rId7" Type="http://schemas.openxmlformats.org/officeDocument/2006/relationships/slideLayout" Target="../slideLayouts/slideLayout72.xml"/><Relationship Id="rId8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77.xml"/><Relationship Id="rId15" Type="http://schemas.openxmlformats.org/officeDocument/2006/relationships/slideLayout" Target="../slideLayouts/slideLayout80.xml"/><Relationship Id="rId14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2.xml"/><Relationship Id="rId16" Type="http://schemas.openxmlformats.org/officeDocument/2006/relationships/slideLayout" Target="../slideLayouts/slideLayout81.xml"/><Relationship Id="rId19" Type="http://schemas.openxmlformats.org/officeDocument/2006/relationships/slideLayout" Target="../slideLayouts/slideLayout84.xml"/><Relationship Id="rId18" Type="http://schemas.openxmlformats.org/officeDocument/2006/relationships/slideLayout" Target="../slideLayouts/slideLayout83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09.xml"/><Relationship Id="rId22" Type="http://schemas.openxmlformats.org/officeDocument/2006/relationships/slideLayout" Target="../slideLayouts/slideLayout111.xml"/><Relationship Id="rId21" Type="http://schemas.openxmlformats.org/officeDocument/2006/relationships/slideLayout" Target="../slideLayouts/slideLayout110.xml"/><Relationship Id="rId24" Type="http://schemas.openxmlformats.org/officeDocument/2006/relationships/slideLayout" Target="../slideLayouts/slideLayout113.xml"/><Relationship Id="rId23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90.xml"/><Relationship Id="rId2" Type="http://schemas.openxmlformats.org/officeDocument/2006/relationships/slideLayout" Target="../slideLayouts/slideLayout91.xml"/><Relationship Id="rId3" Type="http://schemas.openxmlformats.org/officeDocument/2006/relationships/slideLayout" Target="../slideLayouts/slideLayout92.xml"/><Relationship Id="rId4" Type="http://schemas.openxmlformats.org/officeDocument/2006/relationships/slideLayout" Target="../slideLayouts/slideLayout93.xml"/><Relationship Id="rId9" Type="http://schemas.openxmlformats.org/officeDocument/2006/relationships/slideLayout" Target="../slideLayouts/slideLayout98.xml"/><Relationship Id="rId26" Type="http://schemas.openxmlformats.org/officeDocument/2006/relationships/slideLayout" Target="../slideLayouts/slideLayout115.xml"/><Relationship Id="rId25" Type="http://schemas.openxmlformats.org/officeDocument/2006/relationships/slideLayout" Target="../slideLayouts/slideLayout114.xml"/><Relationship Id="rId27" Type="http://schemas.openxmlformats.org/officeDocument/2006/relationships/theme" Target="../theme/theme6.xml"/><Relationship Id="rId5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5.xml"/><Relationship Id="rId7" Type="http://schemas.openxmlformats.org/officeDocument/2006/relationships/slideLayout" Target="../slideLayouts/slideLayout96.xml"/><Relationship Id="rId8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2.xml"/><Relationship Id="rId12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04.xml"/><Relationship Id="rId14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6.xml"/><Relationship Id="rId16" Type="http://schemas.openxmlformats.org/officeDocument/2006/relationships/slideLayout" Target="../slideLayouts/slideLayout105.xml"/><Relationship Id="rId19" Type="http://schemas.openxmlformats.org/officeDocument/2006/relationships/slideLayout" Target="../slideLayouts/slideLayout108.xml"/><Relationship Id="rId18" Type="http://schemas.openxmlformats.org/officeDocument/2006/relationships/slideLayout" Target="../slideLayouts/slideLayout10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5" name="Google Shape;115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  <p:sldLayoutId id="2147483684" r:id="rId20"/>
    <p:sldLayoutId id="2147483685" r:id="rId21"/>
    <p:sldLayoutId id="2147483686" r:id="rId22"/>
    <p:sldLayoutId id="2147483687" r:id="rId23"/>
    <p:sldLayoutId id="2147483688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8" name="Google Shape;258;p4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9" name="Google Shape;259;p4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4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1" name="Google Shape;261;p4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03" name="Google Shape;403;p6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4" name="Google Shape;404;p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5" name="Google Shape;405;p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6" name="Google Shape;406;p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727" r:id="rId15"/>
    <p:sldLayoutId id="2147483728" r:id="rId16"/>
    <p:sldLayoutId id="2147483729" r:id="rId17"/>
    <p:sldLayoutId id="2147483730" r:id="rId18"/>
    <p:sldLayoutId id="2147483731" r:id="rId19"/>
    <p:sldLayoutId id="2147483732" r:id="rId20"/>
    <p:sldLayoutId id="2147483733" r:id="rId21"/>
    <p:sldLayoutId id="2147483734" r:id="rId22"/>
    <p:sldLayoutId id="2147483735" r:id="rId23"/>
    <p:sldLayoutId id="2147483736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9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7" name="Google Shape;547;p9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8" name="Google Shape;548;p9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9" name="Google Shape;549;p9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0" name="Google Shape;550;p9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0" r:id="rId14"/>
    <p:sldLayoutId id="2147483751" r:id="rId15"/>
    <p:sldLayoutId id="2147483752" r:id="rId16"/>
    <p:sldLayoutId id="2147483753" r:id="rId17"/>
    <p:sldLayoutId id="2147483754" r:id="rId18"/>
    <p:sldLayoutId id="2147483755" r:id="rId19"/>
    <p:sldLayoutId id="2147483756" r:id="rId20"/>
    <p:sldLayoutId id="2147483757" r:id="rId21"/>
    <p:sldLayoutId id="2147483758" r:id="rId22"/>
    <p:sldLayoutId id="2147483759" r:id="rId23"/>
    <p:sldLayoutId id="2147483760" r:id="rId24"/>
    <p:sldLayoutId id="2147483761" r:id="rId25"/>
    <p:sldLayoutId id="2147483762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3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8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2.png"/><Relationship Id="rId9" Type="http://schemas.openxmlformats.org/officeDocument/2006/relationships/image" Target="../media/image36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21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21"/>
          <p:cNvSpPr/>
          <p:nvPr/>
        </p:nvSpPr>
        <p:spPr>
          <a:xfrm>
            <a:off x="0" y="0"/>
            <a:ext cx="9144000" cy="1905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21"/>
          <p:cNvSpPr/>
          <p:nvPr/>
        </p:nvSpPr>
        <p:spPr>
          <a:xfrm>
            <a:off x="3048000" y="4191000"/>
            <a:ext cx="3048000" cy="19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21"/>
          <p:cNvSpPr txBox="1"/>
          <p:nvPr/>
        </p:nvSpPr>
        <p:spPr>
          <a:xfrm>
            <a:off x="762000" y="1428750"/>
            <a:ext cx="7620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100">
                <a:solidFill>
                  <a:srgbClr val="1E29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Unsupervised Clustering for Customer Segmentation</a:t>
            </a:r>
            <a:endParaRPr b="0" sz="4100">
              <a:solidFill>
                <a:srgbClr val="1E29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706" name="Google Shape;706;p121"/>
          <p:cNvSpPr txBox="1"/>
          <p:nvPr/>
        </p:nvSpPr>
        <p:spPr>
          <a:xfrm>
            <a:off x="1143000" y="3143250"/>
            <a:ext cx="685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707" name="Google Shape;707;p121"/>
          <p:cNvSpPr/>
          <p:nvPr/>
        </p:nvSpPr>
        <p:spPr>
          <a:xfrm>
            <a:off x="381000" y="4381500"/>
            <a:ext cx="762000" cy="762000"/>
          </a:xfrm>
          <a:prstGeom prst="ellipse">
            <a:avLst/>
          </a:prstGeom>
          <a:solidFill>
            <a:srgbClr val="3B82F6">
              <a:alpha val="1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121"/>
          <p:cNvSpPr/>
          <p:nvPr/>
        </p:nvSpPr>
        <p:spPr>
          <a:xfrm>
            <a:off x="7810500" y="-190500"/>
            <a:ext cx="1143000" cy="1143000"/>
          </a:xfrm>
          <a:prstGeom prst="ellipse">
            <a:avLst/>
          </a:prstGeom>
          <a:solidFill>
            <a:srgbClr val="3B82F6">
              <a:alpha val="5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22"/>
          <p:cNvSpPr/>
          <p:nvPr/>
        </p:nvSpPr>
        <p:spPr>
          <a:xfrm>
            <a:off x="316992" y="1139952"/>
            <a:ext cx="164700" cy="5257800"/>
          </a:xfrm>
          <a:prstGeom prst="rect">
            <a:avLst/>
          </a:prstGeom>
          <a:solidFill>
            <a:srgbClr val="1E7D80"/>
          </a:solidFill>
          <a:ln cap="flat" cmpd="sng" w="9525">
            <a:solidFill>
              <a:srgbClr val="1E7D8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22"/>
          <p:cNvSpPr/>
          <p:nvPr/>
        </p:nvSpPr>
        <p:spPr>
          <a:xfrm>
            <a:off x="152400" y="152400"/>
            <a:ext cx="9144000" cy="777300"/>
          </a:xfrm>
          <a:prstGeom prst="rect">
            <a:avLst/>
          </a:prstGeom>
          <a:solidFill>
            <a:srgbClr val="14305C"/>
          </a:solidFill>
          <a:ln cap="flat" cmpd="sng" w="9525">
            <a:solidFill>
              <a:srgbClr val="14305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22"/>
          <p:cNvSpPr/>
          <p:nvPr/>
        </p:nvSpPr>
        <p:spPr>
          <a:xfrm>
            <a:off x="152400" y="929640"/>
            <a:ext cx="9144000" cy="63900"/>
          </a:xfrm>
          <a:prstGeom prst="rect">
            <a:avLst/>
          </a:prstGeom>
          <a:solidFill>
            <a:srgbClr val="D59C3E"/>
          </a:solidFill>
          <a:ln cap="flat" cmpd="sng" w="9525">
            <a:solidFill>
              <a:srgbClr val="D59C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22"/>
          <p:cNvSpPr txBox="1"/>
          <p:nvPr/>
        </p:nvSpPr>
        <p:spPr>
          <a:xfrm>
            <a:off x="518160" y="280416"/>
            <a:ext cx="80466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76200" spcFirstLastPara="1" rIns="76200" wrap="square" tIns="508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Problem Statement</a:t>
            </a:r>
            <a:endParaRPr/>
          </a:p>
        </p:txBody>
      </p:sp>
      <p:grpSp>
        <p:nvGrpSpPr>
          <p:cNvPr id="717" name="Google Shape;717;p122"/>
          <p:cNvGrpSpPr/>
          <p:nvPr/>
        </p:nvGrpSpPr>
        <p:grpSpPr>
          <a:xfrm>
            <a:off x="723900" y="1295400"/>
            <a:ext cx="8001075" cy="5048250"/>
            <a:chOff x="571500" y="1143000"/>
            <a:chExt cx="8001075" cy="5048250"/>
          </a:xfrm>
        </p:grpSpPr>
        <p:sp>
          <p:nvSpPr>
            <p:cNvPr id="718" name="Google Shape;718;p122"/>
            <p:cNvSpPr/>
            <p:nvPr/>
          </p:nvSpPr>
          <p:spPr>
            <a:xfrm>
              <a:off x="571500" y="1143000"/>
              <a:ext cx="80010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122"/>
            <p:cNvSpPr/>
            <p:nvPr/>
          </p:nvSpPr>
          <p:spPr>
            <a:xfrm>
              <a:off x="571500" y="114300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1E7D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122"/>
            <p:cNvSpPr txBox="1"/>
            <p:nvPr/>
          </p:nvSpPr>
          <p:spPr>
            <a:xfrm>
              <a:off x="809625" y="1178052"/>
              <a:ext cx="428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E7D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2400">
                <a:solidFill>
                  <a:srgbClr val="1E7D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21" name="Google Shape;721;p122"/>
            <p:cNvSpPr txBox="1"/>
            <p:nvPr/>
          </p:nvSpPr>
          <p:spPr>
            <a:xfrm>
              <a:off x="1333500" y="1143000"/>
              <a:ext cx="7048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Core Objective</a:t>
              </a:r>
              <a:endParaRPr b="1" sz="16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Discover natural groupings within a customer base to answer: </a:t>
              </a:r>
              <a:r>
                <a:rPr b="1" lang="en-US" sz="16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"Who are our most valuable customers? Which segments churn? Which have high lifetime value?"</a:t>
              </a:r>
              <a:endParaRPr sz="16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122"/>
            <p:cNvSpPr/>
            <p:nvPr/>
          </p:nvSpPr>
          <p:spPr>
            <a:xfrm>
              <a:off x="571500" y="2762250"/>
              <a:ext cx="38577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122"/>
            <p:cNvSpPr/>
            <p:nvPr/>
          </p:nvSpPr>
          <p:spPr>
            <a:xfrm>
              <a:off x="571500" y="2762250"/>
              <a:ext cx="95400" cy="21909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122"/>
            <p:cNvSpPr txBox="1"/>
            <p:nvPr/>
          </p:nvSpPr>
          <p:spPr>
            <a:xfrm>
              <a:off x="809625" y="2791460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D59C3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</a:t>
              </a:r>
              <a:endParaRPr sz="2000">
                <a:solidFill>
                  <a:srgbClr val="D59C3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25" name="Google Shape;725;p122"/>
            <p:cNvSpPr txBox="1"/>
            <p:nvPr/>
          </p:nvSpPr>
          <p:spPr>
            <a:xfrm>
              <a:off x="1285875" y="2762250"/>
              <a:ext cx="30003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1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Methodology</a:t>
              </a:r>
              <a:endParaRPr b="1" sz="111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9085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32B3A"/>
                </a:buClr>
                <a:buSzPts val="1110"/>
                <a:buFont typeface="Arial"/>
                <a:buChar char="●"/>
              </a:pPr>
              <a:r>
                <a:rPr lang="en-US" sz="111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Analyze UK-based transactional data (~500k records, 2010-2011)</a:t>
              </a:r>
              <a:endParaRPr sz="111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908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32B3A"/>
                </a:buClr>
                <a:buSzPts val="1110"/>
                <a:buFont typeface="Arial"/>
                <a:buChar char="●"/>
              </a:pPr>
              <a:r>
                <a:rPr lang="en-US" sz="111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Engineer features using </a:t>
              </a:r>
              <a:r>
                <a:rPr b="1" lang="en-US" sz="111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RFM Principles</a:t>
              </a:r>
              <a:endParaRPr sz="111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908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32B3A"/>
                </a:buClr>
                <a:buSzPts val="1110"/>
                <a:buFont typeface="Arial"/>
                <a:buChar char="●"/>
              </a:pPr>
              <a:r>
                <a:rPr lang="en-US" sz="111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Apply </a:t>
              </a:r>
              <a:r>
                <a:rPr b="1" lang="en-US" sz="111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PCA</a:t>
              </a:r>
              <a:r>
                <a:rPr lang="en-US" sz="111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for dimensionality reduction</a:t>
              </a:r>
              <a:endParaRPr sz="111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908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32B3A"/>
                </a:buClr>
                <a:buSzPts val="1110"/>
                <a:buFont typeface="Arial"/>
                <a:buChar char="●"/>
              </a:pPr>
              <a:r>
                <a:rPr lang="en-US" sz="111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Implement multiple clustering algorithms</a:t>
              </a:r>
              <a:endParaRPr sz="111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9085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232B3A"/>
                </a:buClr>
                <a:buSzPts val="1110"/>
                <a:buFont typeface="Arial"/>
                <a:buChar char="●"/>
              </a:pPr>
              <a:r>
                <a:rPr lang="en-US" sz="111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Validate findings via supervised learning</a:t>
              </a:r>
              <a:endParaRPr sz="111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22"/>
            <p:cNvSpPr/>
            <p:nvPr/>
          </p:nvSpPr>
          <p:spPr>
            <a:xfrm>
              <a:off x="4714875" y="2762250"/>
              <a:ext cx="3857700" cy="2190900"/>
            </a:xfrm>
            <a:prstGeom prst="roundRect">
              <a:avLst>
                <a:gd fmla="val 3478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122"/>
            <p:cNvSpPr txBox="1"/>
            <p:nvPr/>
          </p:nvSpPr>
          <p:spPr>
            <a:xfrm>
              <a:off x="4905375" y="293433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D59C3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2000">
                <a:solidFill>
                  <a:srgbClr val="D59C3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28" name="Google Shape;728;p122"/>
            <p:cNvSpPr txBox="1"/>
            <p:nvPr/>
          </p:nvSpPr>
          <p:spPr>
            <a:xfrm>
              <a:off x="5334000" y="2905125"/>
              <a:ext cx="30480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D59C3E"/>
                  </a:solidFill>
                  <a:latin typeface="Arial"/>
                  <a:ea typeface="Arial"/>
                  <a:cs typeface="Arial"/>
                  <a:sym typeface="Arial"/>
                </a:rPr>
                <a:t>Key Challenge</a:t>
              </a:r>
              <a:endParaRPr b="1" sz="1300">
                <a:solidFill>
                  <a:srgbClr val="D59C3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Discovering segments in a </a:t>
              </a:r>
              <a:r>
                <a:rPr b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heterogeneous base</a:t>
              </a:r>
              <a:r>
                <a:rPr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without </a:t>
              </a:r>
              <a:r>
                <a:rPr lang="en-US" sz="1300">
                  <a:solidFill>
                    <a:srgbClr val="FFFFFF"/>
                  </a:solidFill>
                </a:rPr>
                <a:t>predefined</a:t>
              </a:r>
              <a:r>
                <a:rPr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 labels.</a:t>
              </a:r>
              <a:endPara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Navigating real-world complexity: missing values, anomalies, and complex transactional records spanning over a year.</a:t>
              </a:r>
              <a:endParaRPr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122"/>
            <p:cNvSpPr txBox="1"/>
            <p:nvPr/>
          </p:nvSpPr>
          <p:spPr>
            <a:xfrm>
              <a:off x="571500" y="5238750"/>
              <a:ext cx="800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Focus: Unsupervised Clustering for Customer Segmentation using the Online Retail Dataset (2010-2011).</a:t>
              </a:r>
              <a:endParaRPr i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4" name="Google Shape;734;p123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123"/>
          <p:cNvSpPr/>
          <p:nvPr/>
        </p:nvSpPr>
        <p:spPr>
          <a:xfrm>
            <a:off x="316992" y="1139952"/>
            <a:ext cx="164700" cy="5257800"/>
          </a:xfrm>
          <a:prstGeom prst="rect">
            <a:avLst/>
          </a:prstGeom>
          <a:solidFill>
            <a:srgbClr val="1E7D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23"/>
          <p:cNvSpPr/>
          <p:nvPr/>
        </p:nvSpPr>
        <p:spPr>
          <a:xfrm>
            <a:off x="152400" y="152400"/>
            <a:ext cx="9144000" cy="7773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123"/>
          <p:cNvSpPr/>
          <p:nvPr/>
        </p:nvSpPr>
        <p:spPr>
          <a:xfrm>
            <a:off x="152400" y="929640"/>
            <a:ext cx="9144000" cy="639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23"/>
          <p:cNvSpPr txBox="1"/>
          <p:nvPr/>
        </p:nvSpPr>
        <p:spPr>
          <a:xfrm>
            <a:off x="518160" y="280416"/>
            <a:ext cx="8046600" cy="533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50750" lIns="76200" spcFirstLastPara="1" rIns="76200" wrap="square" tIns="5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Objective &amp; Motivation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39" name="Google Shape;739;p123"/>
          <p:cNvGrpSpPr/>
          <p:nvPr/>
        </p:nvGrpSpPr>
        <p:grpSpPr>
          <a:xfrm>
            <a:off x="723900" y="1295400"/>
            <a:ext cx="8001000" cy="1273452"/>
            <a:chOff x="723900" y="1295400"/>
            <a:chExt cx="8001000" cy="1273452"/>
          </a:xfrm>
        </p:grpSpPr>
        <p:sp>
          <p:nvSpPr>
            <p:cNvPr id="740" name="Google Shape;740;p123"/>
            <p:cNvSpPr/>
            <p:nvPr/>
          </p:nvSpPr>
          <p:spPr>
            <a:xfrm>
              <a:off x="723900" y="1295400"/>
              <a:ext cx="80010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123"/>
            <p:cNvSpPr/>
            <p:nvPr/>
          </p:nvSpPr>
          <p:spPr>
            <a:xfrm>
              <a:off x="723900" y="1295400"/>
              <a:ext cx="95400" cy="1238400"/>
            </a:xfrm>
            <a:prstGeom prst="roundRect">
              <a:avLst>
                <a:gd fmla="val 50000" name="adj"/>
              </a:avLst>
            </a:prstGeom>
            <a:solidFill>
              <a:srgbClr val="1E7D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123"/>
            <p:cNvSpPr txBox="1"/>
            <p:nvPr/>
          </p:nvSpPr>
          <p:spPr>
            <a:xfrm>
              <a:off x="962025" y="1330452"/>
              <a:ext cx="428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E7D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1E7D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43" name="Google Shape;743;p123"/>
            <p:cNvSpPr txBox="1"/>
            <p:nvPr/>
          </p:nvSpPr>
          <p:spPr>
            <a:xfrm>
              <a:off x="1485900" y="1295400"/>
              <a:ext cx="7048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Motivation</a:t>
              </a:r>
              <a:endParaRPr b="1" sz="16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Move from generic marketing to targeted, segment-based strategies.</a:t>
              </a:r>
              <a:endParaRPr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4" name="Google Shape;744;p123"/>
          <p:cNvGrpSpPr/>
          <p:nvPr/>
        </p:nvGrpSpPr>
        <p:grpSpPr>
          <a:xfrm>
            <a:off x="723900" y="2724150"/>
            <a:ext cx="3857700" cy="1714500"/>
            <a:chOff x="723900" y="2724150"/>
            <a:chExt cx="3857700" cy="1714500"/>
          </a:xfrm>
        </p:grpSpPr>
        <p:sp>
          <p:nvSpPr>
            <p:cNvPr id="745" name="Google Shape;745;p123"/>
            <p:cNvSpPr/>
            <p:nvPr/>
          </p:nvSpPr>
          <p:spPr>
            <a:xfrm>
              <a:off x="723900" y="2724150"/>
              <a:ext cx="38577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123"/>
            <p:cNvSpPr/>
            <p:nvPr/>
          </p:nvSpPr>
          <p:spPr>
            <a:xfrm>
              <a:off x="723900" y="2724150"/>
              <a:ext cx="95400" cy="17145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123"/>
            <p:cNvSpPr txBox="1"/>
            <p:nvPr/>
          </p:nvSpPr>
          <p:spPr>
            <a:xfrm>
              <a:off x="962025" y="2848610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D59C3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000">
                <a:solidFill>
                  <a:srgbClr val="D59C3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48" name="Google Shape;748;p123"/>
            <p:cNvSpPr txBox="1"/>
            <p:nvPr/>
          </p:nvSpPr>
          <p:spPr>
            <a:xfrm>
              <a:off x="1438275" y="2724150"/>
              <a:ext cx="3000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Core Objective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Apply </a:t>
              </a:r>
              <a:r>
                <a:rPr b="1" lang="en-US" sz="12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rigorous unsupervised learning</a:t>
              </a:r>
              <a:r>
                <a:rPr lang="en-US" sz="12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to segment customers into meaningful clusters.</a:t>
              </a:r>
              <a:endParaRPr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9" name="Google Shape;749;p123"/>
          <p:cNvGrpSpPr/>
          <p:nvPr/>
        </p:nvGrpSpPr>
        <p:grpSpPr>
          <a:xfrm>
            <a:off x="4867275" y="2724150"/>
            <a:ext cx="3857700" cy="1714500"/>
            <a:chOff x="4867275" y="2724150"/>
            <a:chExt cx="3857700" cy="1714500"/>
          </a:xfrm>
        </p:grpSpPr>
        <p:sp>
          <p:nvSpPr>
            <p:cNvPr id="750" name="Google Shape;750;p123"/>
            <p:cNvSpPr/>
            <p:nvPr/>
          </p:nvSpPr>
          <p:spPr>
            <a:xfrm>
              <a:off x="4867275" y="2724150"/>
              <a:ext cx="38577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123"/>
            <p:cNvSpPr/>
            <p:nvPr/>
          </p:nvSpPr>
          <p:spPr>
            <a:xfrm>
              <a:off x="4867275" y="2724150"/>
              <a:ext cx="95400" cy="17145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123"/>
            <p:cNvSpPr txBox="1"/>
            <p:nvPr/>
          </p:nvSpPr>
          <p:spPr>
            <a:xfrm>
              <a:off x="5105400" y="2848610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4305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2000">
                <a:solidFill>
                  <a:srgbClr val="14305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53" name="Google Shape;753;p123"/>
            <p:cNvSpPr txBox="1"/>
            <p:nvPr/>
          </p:nvSpPr>
          <p:spPr>
            <a:xfrm>
              <a:off x="5581650" y="2724150"/>
              <a:ext cx="3000300" cy="171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Validation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Validate segments using </a:t>
              </a:r>
              <a:r>
                <a:rPr b="1" lang="en-US" sz="12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supervised learning</a:t>
              </a:r>
              <a:r>
                <a:rPr lang="en-US" sz="12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(Logistic Regression) for accuracy and robustness.</a:t>
              </a:r>
              <a:endParaRPr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54" name="Google Shape;754;p123"/>
          <p:cNvGrpSpPr/>
          <p:nvPr/>
        </p:nvGrpSpPr>
        <p:grpSpPr>
          <a:xfrm>
            <a:off x="723900" y="4629150"/>
            <a:ext cx="8001000" cy="952500"/>
            <a:chOff x="723900" y="4629150"/>
            <a:chExt cx="8001000" cy="952500"/>
          </a:xfrm>
        </p:grpSpPr>
        <p:sp>
          <p:nvSpPr>
            <p:cNvPr id="755" name="Google Shape;755;p123"/>
            <p:cNvSpPr/>
            <p:nvPr/>
          </p:nvSpPr>
          <p:spPr>
            <a:xfrm>
              <a:off x="723900" y="4629150"/>
              <a:ext cx="8001000" cy="952500"/>
            </a:xfrm>
            <a:prstGeom prst="roundRect">
              <a:avLst>
                <a:gd fmla="val 8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123"/>
            <p:cNvSpPr txBox="1"/>
            <p:nvPr/>
          </p:nvSpPr>
          <p:spPr>
            <a:xfrm>
              <a:off x="723900" y="4629150"/>
              <a:ext cx="8001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Final Output</a:t>
              </a:r>
              <a:endParaRPr b="1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D59C3E"/>
                  </a:solidFill>
                  <a:latin typeface="Arial"/>
                  <a:ea typeface="Arial"/>
                  <a:cs typeface="Arial"/>
                  <a:sym typeface="Arial"/>
                </a:rPr>
                <a:t>Actionable recommendations for the business.</a:t>
              </a:r>
              <a:endParaRPr i="1" sz="1400">
                <a:solidFill>
                  <a:srgbClr val="D59C3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57" name="Google Shape;757;p123"/>
          <p:cNvSpPr txBox="1"/>
          <p:nvPr/>
        </p:nvSpPr>
        <p:spPr>
          <a:xfrm>
            <a:off x="723900" y="5715000"/>
            <a:ext cx="8001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Goal: Transform raw transactional data into strategic insights through statistical learning.</a:t>
            </a:r>
            <a:endParaRPr i="1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1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5240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124"/>
          <p:cNvSpPr/>
          <p:nvPr/>
        </p:nvSpPr>
        <p:spPr>
          <a:xfrm>
            <a:off x="316992" y="1139952"/>
            <a:ext cx="164700" cy="5257800"/>
          </a:xfrm>
          <a:prstGeom prst="rect">
            <a:avLst/>
          </a:prstGeom>
          <a:solidFill>
            <a:srgbClr val="1E7D8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24"/>
          <p:cNvSpPr/>
          <p:nvPr/>
        </p:nvSpPr>
        <p:spPr>
          <a:xfrm>
            <a:off x="152400" y="152400"/>
            <a:ext cx="9144000" cy="7773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124"/>
          <p:cNvSpPr/>
          <p:nvPr/>
        </p:nvSpPr>
        <p:spPr>
          <a:xfrm>
            <a:off x="152400" y="929640"/>
            <a:ext cx="9144000" cy="639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66" name="Google Shape;766;p124"/>
          <p:cNvGrpSpPr/>
          <p:nvPr/>
        </p:nvGrpSpPr>
        <p:grpSpPr>
          <a:xfrm>
            <a:off x="518160" y="280416"/>
            <a:ext cx="8046600" cy="533400"/>
            <a:chOff x="518160" y="280416"/>
            <a:chExt cx="8046600" cy="533400"/>
          </a:xfrm>
        </p:grpSpPr>
        <p:sp>
          <p:nvSpPr>
            <p:cNvPr id="767" name="Google Shape;767;p124"/>
            <p:cNvSpPr/>
            <p:nvPr/>
          </p:nvSpPr>
          <p:spPr>
            <a:xfrm>
              <a:off x="518160" y="280416"/>
              <a:ext cx="80466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124"/>
            <p:cNvSpPr txBox="1"/>
            <p:nvPr/>
          </p:nvSpPr>
          <p:spPr>
            <a:xfrm>
              <a:off x="518160" y="280416"/>
              <a:ext cx="8046600" cy="53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7620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Dataset Overview</a:t>
              </a:r>
              <a:endParaRPr b="1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grpSp>
        <p:nvGrpSpPr>
          <p:cNvPr id="769" name="Google Shape;769;p124"/>
          <p:cNvGrpSpPr/>
          <p:nvPr/>
        </p:nvGrpSpPr>
        <p:grpSpPr>
          <a:xfrm>
            <a:off x="723900" y="1295400"/>
            <a:ext cx="8001000" cy="1273452"/>
            <a:chOff x="723900" y="1295400"/>
            <a:chExt cx="8001000" cy="1273452"/>
          </a:xfrm>
        </p:grpSpPr>
        <p:sp>
          <p:nvSpPr>
            <p:cNvPr id="770" name="Google Shape;770;p124"/>
            <p:cNvSpPr/>
            <p:nvPr/>
          </p:nvSpPr>
          <p:spPr>
            <a:xfrm>
              <a:off x="723900" y="1295400"/>
              <a:ext cx="80010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124"/>
            <p:cNvSpPr/>
            <p:nvPr/>
          </p:nvSpPr>
          <p:spPr>
            <a:xfrm>
              <a:off x="723900" y="1295400"/>
              <a:ext cx="95400" cy="1238400"/>
            </a:xfrm>
            <a:prstGeom prst="roundRect">
              <a:avLst>
                <a:gd fmla="val 50000" name="adj"/>
              </a:avLst>
            </a:prstGeom>
            <a:solidFill>
              <a:srgbClr val="1E7D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124"/>
            <p:cNvSpPr txBox="1"/>
            <p:nvPr/>
          </p:nvSpPr>
          <p:spPr>
            <a:xfrm>
              <a:off x="962025" y="1330452"/>
              <a:ext cx="4287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E7D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storage</a:t>
              </a:r>
              <a:endParaRPr sz="2400">
                <a:solidFill>
                  <a:srgbClr val="1E7D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73" name="Google Shape;773;p124"/>
            <p:cNvSpPr txBox="1"/>
            <p:nvPr/>
          </p:nvSpPr>
          <p:spPr>
            <a:xfrm>
              <a:off x="1485900" y="1295400"/>
              <a:ext cx="7048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Data Source &amp; Context</a:t>
              </a:r>
              <a:endParaRPr b="1" sz="16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Source: UCI Machine Learning Repository (Online Retail Dataset).</a:t>
              </a:r>
              <a:b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Context: UK-based online retailer spanning 2010-2011.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4" name="Google Shape;774;p124"/>
          <p:cNvGrpSpPr/>
          <p:nvPr/>
        </p:nvGrpSpPr>
        <p:grpSpPr>
          <a:xfrm>
            <a:off x="723900" y="2724150"/>
            <a:ext cx="3857700" cy="1905000"/>
            <a:chOff x="723900" y="2724150"/>
            <a:chExt cx="3857700" cy="1905000"/>
          </a:xfrm>
        </p:grpSpPr>
        <p:sp>
          <p:nvSpPr>
            <p:cNvPr id="775" name="Google Shape;775;p124"/>
            <p:cNvSpPr/>
            <p:nvPr/>
          </p:nvSpPr>
          <p:spPr>
            <a:xfrm>
              <a:off x="723900" y="2724150"/>
              <a:ext cx="38577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124"/>
            <p:cNvSpPr/>
            <p:nvPr/>
          </p:nvSpPr>
          <p:spPr>
            <a:xfrm>
              <a:off x="723900" y="2724150"/>
              <a:ext cx="95400" cy="19050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124"/>
            <p:cNvSpPr txBox="1"/>
            <p:nvPr/>
          </p:nvSpPr>
          <p:spPr>
            <a:xfrm>
              <a:off x="962025" y="2848610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D59C3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000">
                <a:solidFill>
                  <a:srgbClr val="D59C3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78" name="Google Shape;778;p124"/>
            <p:cNvSpPr txBox="1"/>
            <p:nvPr/>
          </p:nvSpPr>
          <p:spPr>
            <a:xfrm>
              <a:off x="1438275" y="2724150"/>
              <a:ext cx="3000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Initial Size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541,909 transactions captured across 8 core variables, providing a dense transactional history for analysis.</a:t>
              </a:r>
              <a:endParaRPr b="0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124"/>
          <p:cNvGrpSpPr/>
          <p:nvPr/>
        </p:nvGrpSpPr>
        <p:grpSpPr>
          <a:xfrm>
            <a:off x="4867275" y="2724150"/>
            <a:ext cx="3857700" cy="1905000"/>
            <a:chOff x="4867275" y="2724150"/>
            <a:chExt cx="3857700" cy="1905000"/>
          </a:xfrm>
        </p:grpSpPr>
        <p:sp>
          <p:nvSpPr>
            <p:cNvPr id="780" name="Google Shape;780;p124"/>
            <p:cNvSpPr/>
            <p:nvPr/>
          </p:nvSpPr>
          <p:spPr>
            <a:xfrm>
              <a:off x="4867275" y="2724150"/>
              <a:ext cx="38577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124"/>
            <p:cNvSpPr/>
            <p:nvPr/>
          </p:nvSpPr>
          <p:spPr>
            <a:xfrm>
              <a:off x="4867275" y="2724150"/>
              <a:ext cx="95400" cy="19050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124"/>
            <p:cNvSpPr txBox="1"/>
            <p:nvPr/>
          </p:nvSpPr>
          <p:spPr>
            <a:xfrm>
              <a:off x="5105400" y="2848610"/>
              <a:ext cx="428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14305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list_alt</a:t>
              </a:r>
              <a:endParaRPr sz="2000">
                <a:solidFill>
                  <a:srgbClr val="14305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783" name="Google Shape;783;p124"/>
            <p:cNvSpPr txBox="1"/>
            <p:nvPr/>
          </p:nvSpPr>
          <p:spPr>
            <a:xfrm>
              <a:off x="5581650" y="2724150"/>
              <a:ext cx="30003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Key Variables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• InvoiceNo, StockCode</a:t>
              </a:r>
              <a:endParaRPr sz="11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• Description, Quantity</a:t>
              </a:r>
              <a:endParaRPr sz="11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• InvoiceDate, UnitPrice</a:t>
              </a:r>
              <a:endParaRPr sz="11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• CustomerID, Country</a:t>
              </a:r>
              <a:endParaRPr sz="11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4" name="Google Shape;784;p124"/>
          <p:cNvGrpSpPr/>
          <p:nvPr/>
        </p:nvGrpSpPr>
        <p:grpSpPr>
          <a:xfrm>
            <a:off x="723900" y="4819650"/>
            <a:ext cx="8001000" cy="762000"/>
            <a:chOff x="723900" y="4819650"/>
            <a:chExt cx="8001000" cy="762000"/>
          </a:xfrm>
        </p:grpSpPr>
        <p:sp>
          <p:nvSpPr>
            <p:cNvPr id="785" name="Google Shape;785;p124"/>
            <p:cNvSpPr/>
            <p:nvPr/>
          </p:nvSpPr>
          <p:spPr>
            <a:xfrm>
              <a:off x="723900" y="4819650"/>
              <a:ext cx="8001000" cy="762000"/>
            </a:xfrm>
            <a:prstGeom prst="roundRect">
              <a:avLst>
                <a:gd fmla="val 1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124"/>
            <p:cNvSpPr txBox="1"/>
            <p:nvPr/>
          </p:nvSpPr>
          <p:spPr>
            <a:xfrm>
              <a:off x="723900" y="4819650"/>
              <a:ext cx="8001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400">
                  <a:solidFill>
                    <a:srgbClr val="D59C3E"/>
                  </a:solidFill>
                  <a:latin typeface="Arial"/>
                  <a:ea typeface="Arial"/>
                  <a:cs typeface="Arial"/>
                  <a:sym typeface="Arial"/>
                </a:rPr>
                <a:t>The dataset serves as the foundation for identifying distinct consumer behavior patterns.</a:t>
              </a:r>
              <a:endParaRPr i="1" sz="1400">
                <a:solidFill>
                  <a:srgbClr val="D59C3E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1" name="Google Shape;791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40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2" name="Google Shape;792;p125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25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25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Data Cleaning &amp; Preprocessing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795" name="Google Shape;795;p125"/>
          <p:cNvGrpSpPr/>
          <p:nvPr/>
        </p:nvGrpSpPr>
        <p:grpSpPr>
          <a:xfrm>
            <a:off x="457200" y="1000125"/>
            <a:ext cx="8229600" cy="952500"/>
            <a:chOff x="457200" y="1000125"/>
            <a:chExt cx="8229600" cy="952500"/>
          </a:xfrm>
        </p:grpSpPr>
        <p:sp>
          <p:nvSpPr>
            <p:cNvPr id="796" name="Google Shape;796;p125"/>
            <p:cNvSpPr/>
            <p:nvPr/>
          </p:nvSpPr>
          <p:spPr>
            <a:xfrm>
              <a:off x="457200" y="1000125"/>
              <a:ext cx="8229600" cy="952500"/>
            </a:xfrm>
            <a:prstGeom prst="roundRect">
              <a:avLst>
                <a:gd fmla="val 8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125"/>
            <p:cNvSpPr txBox="1"/>
            <p:nvPr/>
          </p:nvSpPr>
          <p:spPr>
            <a:xfrm>
              <a:off x="666750" y="1095375"/>
              <a:ext cx="78105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30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Data cleaning embodies critical business assumptions, ensuring conceptual validity and statistical appropriateness.</a:t>
              </a:r>
              <a:endParaRPr b="0" i="1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8" name="Google Shape;798;p125"/>
          <p:cNvGrpSpPr/>
          <p:nvPr/>
        </p:nvGrpSpPr>
        <p:grpSpPr>
          <a:xfrm>
            <a:off x="457200" y="2095500"/>
            <a:ext cx="2619300" cy="1428900"/>
            <a:chOff x="457200" y="2095500"/>
            <a:chExt cx="2619300" cy="1428900"/>
          </a:xfrm>
        </p:grpSpPr>
        <p:sp>
          <p:nvSpPr>
            <p:cNvPr id="799" name="Google Shape;799;p125"/>
            <p:cNvSpPr/>
            <p:nvPr/>
          </p:nvSpPr>
          <p:spPr>
            <a:xfrm>
              <a:off x="457200" y="2095500"/>
              <a:ext cx="26193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125"/>
            <p:cNvSpPr/>
            <p:nvPr/>
          </p:nvSpPr>
          <p:spPr>
            <a:xfrm>
              <a:off x="457200" y="209550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1E7D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125"/>
            <p:cNvSpPr txBox="1"/>
            <p:nvPr/>
          </p:nvSpPr>
          <p:spPr>
            <a:xfrm>
              <a:off x="647700" y="2190750"/>
              <a:ext cx="23337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7D80"/>
                  </a:solidFill>
                  <a:latin typeface="Arial"/>
                  <a:ea typeface="Arial"/>
                  <a:cs typeface="Arial"/>
                  <a:sym typeface="Arial"/>
                </a:rPr>
                <a:t>01. ID &amp; Null Removal</a:t>
              </a:r>
              <a:endParaRPr b="1" sz="1100">
                <a:solidFill>
                  <a:srgbClr val="1E7D8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• Removed missing CustomerIDs (~25% of raw data).</a:t>
              </a:r>
              <a:endParaRPr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• Exact duplicate rows removed to prevent data entry errors.</a:t>
              </a:r>
              <a:endParaRPr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2" name="Google Shape;802;p125"/>
          <p:cNvGrpSpPr/>
          <p:nvPr/>
        </p:nvGrpSpPr>
        <p:grpSpPr>
          <a:xfrm>
            <a:off x="3262313" y="2095500"/>
            <a:ext cx="2619300" cy="1428900"/>
            <a:chOff x="3262313" y="2095500"/>
            <a:chExt cx="2619300" cy="1428900"/>
          </a:xfrm>
        </p:grpSpPr>
        <p:sp>
          <p:nvSpPr>
            <p:cNvPr id="803" name="Google Shape;803;p125"/>
            <p:cNvSpPr/>
            <p:nvPr/>
          </p:nvSpPr>
          <p:spPr>
            <a:xfrm>
              <a:off x="3262313" y="2095500"/>
              <a:ext cx="26193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125"/>
            <p:cNvSpPr/>
            <p:nvPr/>
          </p:nvSpPr>
          <p:spPr>
            <a:xfrm>
              <a:off x="3262313" y="209550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125"/>
            <p:cNvSpPr txBox="1"/>
            <p:nvPr/>
          </p:nvSpPr>
          <p:spPr>
            <a:xfrm>
              <a:off x="3452813" y="2190750"/>
              <a:ext cx="23337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D59C3E"/>
                  </a:solidFill>
                  <a:latin typeface="Arial"/>
                  <a:ea typeface="Arial"/>
                  <a:cs typeface="Arial"/>
                  <a:sym typeface="Arial"/>
                </a:rPr>
                <a:t>02. Transaction Filtering</a:t>
              </a:r>
              <a:endParaRPr b="1" sz="1100">
                <a:solidFill>
                  <a:srgbClr val="D59C3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• Removed negative/zero quantities (returns/cancellations).</a:t>
              </a:r>
              <a:endParaRPr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• Removed records with zero or negative UnitPrices.</a:t>
              </a:r>
              <a:endParaRPr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06" name="Google Shape;806;p125"/>
          <p:cNvGrpSpPr/>
          <p:nvPr/>
        </p:nvGrpSpPr>
        <p:grpSpPr>
          <a:xfrm>
            <a:off x="6067425" y="2095500"/>
            <a:ext cx="2619300" cy="1428900"/>
            <a:chOff x="6067425" y="2095500"/>
            <a:chExt cx="2619300" cy="1428900"/>
          </a:xfrm>
        </p:grpSpPr>
        <p:sp>
          <p:nvSpPr>
            <p:cNvPr id="807" name="Google Shape;807;p125"/>
            <p:cNvSpPr/>
            <p:nvPr/>
          </p:nvSpPr>
          <p:spPr>
            <a:xfrm>
              <a:off x="6067425" y="2095500"/>
              <a:ext cx="26193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125"/>
            <p:cNvSpPr/>
            <p:nvPr/>
          </p:nvSpPr>
          <p:spPr>
            <a:xfrm>
              <a:off x="6067425" y="209550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125"/>
            <p:cNvSpPr txBox="1"/>
            <p:nvPr/>
          </p:nvSpPr>
          <p:spPr>
            <a:xfrm>
              <a:off x="6257925" y="2190750"/>
              <a:ext cx="23337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03. Outlier Treatment</a:t>
              </a:r>
              <a:endParaRPr b="1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• IQR Method used on UnitPrice [-2.50, 7.50].</a:t>
              </a:r>
              <a:endParaRPr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• Extreme anomalies removed to align with modeling assumptions.</a:t>
              </a:r>
              <a:endParaRPr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0" name="Google Shape;810;p125"/>
          <p:cNvGrpSpPr/>
          <p:nvPr/>
        </p:nvGrpSpPr>
        <p:grpSpPr>
          <a:xfrm>
            <a:off x="457200" y="3667125"/>
            <a:ext cx="8229600" cy="762000"/>
            <a:chOff x="457200" y="3667125"/>
            <a:chExt cx="8229600" cy="762000"/>
          </a:xfrm>
        </p:grpSpPr>
        <p:sp>
          <p:nvSpPr>
            <p:cNvPr id="811" name="Google Shape;811;p125"/>
            <p:cNvSpPr/>
            <p:nvPr/>
          </p:nvSpPr>
          <p:spPr>
            <a:xfrm>
              <a:off x="457200" y="3667125"/>
              <a:ext cx="8229600" cy="762000"/>
            </a:xfrm>
            <a:prstGeom prst="roundRect">
              <a:avLst>
                <a:gd fmla="val 10000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125"/>
            <p:cNvSpPr txBox="1"/>
            <p:nvPr/>
          </p:nvSpPr>
          <p:spPr>
            <a:xfrm>
              <a:off x="666750" y="3762375"/>
              <a:ext cx="7810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Cleaning Impact:</a:t>
              </a:r>
              <a:r>
                <a:rPr b="0" lang="en-US" sz="12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Removed ~8-10% of records, primarily returns and anomalies, resulting in a robust foundation for RFM analysis.</a:t>
              </a:r>
              <a:endParaRPr b="0" sz="12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3" name="Google Shape;813;p125"/>
          <p:cNvGrpSpPr/>
          <p:nvPr/>
        </p:nvGrpSpPr>
        <p:grpSpPr>
          <a:xfrm>
            <a:off x="457200" y="4572000"/>
            <a:ext cx="8229600" cy="952500"/>
            <a:chOff x="457200" y="4572000"/>
            <a:chExt cx="8229600" cy="952500"/>
          </a:xfrm>
        </p:grpSpPr>
        <p:sp>
          <p:nvSpPr>
            <p:cNvPr id="814" name="Google Shape;814;p125"/>
            <p:cNvSpPr/>
            <p:nvPr/>
          </p:nvSpPr>
          <p:spPr>
            <a:xfrm>
              <a:off x="457200" y="4572000"/>
              <a:ext cx="8229600" cy="952500"/>
            </a:xfrm>
            <a:prstGeom prst="roundRect">
              <a:avLst>
                <a:gd fmla="val 8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125"/>
            <p:cNvSpPr txBox="1"/>
            <p:nvPr/>
          </p:nvSpPr>
          <p:spPr>
            <a:xfrm>
              <a:off x="762000" y="4667250"/>
              <a:ext cx="3810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D59C3E"/>
                  </a:solidFill>
                  <a:latin typeface="Play"/>
                  <a:ea typeface="Play"/>
                  <a:cs typeface="Play"/>
                  <a:sym typeface="Play"/>
                </a:rPr>
                <a:t>358,580</a:t>
              </a:r>
              <a:endParaRPr b="1" sz="2400">
                <a:solidFill>
                  <a:srgbClr val="D59C3E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Final Cleaned Transactions</a:t>
              </a:r>
              <a:endParaRPr b="0" sz="1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16" name="Google Shape;816;p125"/>
            <p:cNvSpPr txBox="1"/>
            <p:nvPr/>
          </p:nvSpPr>
          <p:spPr>
            <a:xfrm>
              <a:off x="4572000" y="4667250"/>
              <a:ext cx="3810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D59C3E"/>
                  </a:solidFill>
                  <a:latin typeface="Play"/>
                  <a:ea typeface="Play"/>
                  <a:cs typeface="Play"/>
                  <a:sym typeface="Play"/>
                </a:rPr>
                <a:t>4,306</a:t>
              </a:r>
              <a:endParaRPr b="1" sz="2400">
                <a:solidFill>
                  <a:srgbClr val="D59C3E"/>
                </a:solidFill>
                <a:latin typeface="Play"/>
                <a:ea typeface="Play"/>
                <a:cs typeface="Play"/>
                <a:sym typeface="Play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FFFFFF"/>
                  </a:solidFill>
                  <a:latin typeface="Play"/>
                  <a:ea typeface="Play"/>
                  <a:cs typeface="Play"/>
                  <a:sym typeface="Play"/>
                </a:rPr>
                <a:t>Unique Customers</a:t>
              </a:r>
              <a:endParaRPr b="0" sz="1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pic>
          <p:nvPicPr>
            <p:cNvPr id="817" name="Google Shape;817;p1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67238" y="4714875"/>
              <a:ext cx="9600" cy="428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126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126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26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26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Why Customer Segmentation?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25" name="Google Shape;825;p126"/>
          <p:cNvSpPr/>
          <p:nvPr/>
        </p:nvSpPr>
        <p:spPr>
          <a:xfrm>
            <a:off x="457200" y="1000125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126"/>
          <p:cNvSpPr txBox="1"/>
          <p:nvPr/>
        </p:nvSpPr>
        <p:spPr>
          <a:xfrm>
            <a:off x="647700" y="1000125"/>
            <a:ext cx="784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Segmentation reveals the hidden structure of customer heterogeneity, moving beyond one-size-fits-all strategies.</a:t>
            </a:r>
            <a:endParaRPr b="0" i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27" name="Google Shape;827;p126"/>
          <p:cNvGrpSpPr/>
          <p:nvPr/>
        </p:nvGrpSpPr>
        <p:grpSpPr>
          <a:xfrm>
            <a:off x="457200" y="1857375"/>
            <a:ext cx="4019700" cy="2190900"/>
            <a:chOff x="0" y="0"/>
            <a:chExt cx="4019700" cy="2190900"/>
          </a:xfrm>
        </p:grpSpPr>
        <p:sp>
          <p:nvSpPr>
            <p:cNvPr id="828" name="Google Shape;828;p126"/>
            <p:cNvSpPr/>
            <p:nvPr/>
          </p:nvSpPr>
          <p:spPr>
            <a:xfrm>
              <a:off x="0" y="0"/>
              <a:ext cx="40197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126"/>
            <p:cNvSpPr/>
            <p:nvPr/>
          </p:nvSpPr>
          <p:spPr>
            <a:xfrm>
              <a:off x="0" y="0"/>
              <a:ext cx="95400" cy="2190900"/>
            </a:xfrm>
            <a:prstGeom prst="roundRect">
              <a:avLst>
                <a:gd fmla="val 50000" name="adj"/>
              </a:avLst>
            </a:prstGeom>
            <a:solidFill>
              <a:srgbClr val="1E7D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126"/>
            <p:cNvSpPr txBox="1"/>
            <p:nvPr/>
          </p:nvSpPr>
          <p:spPr>
            <a:xfrm>
              <a:off x="285750" y="2636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E7D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2400">
                <a:solidFill>
                  <a:srgbClr val="1E7D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31" name="Google Shape;831;p126"/>
            <p:cNvSpPr txBox="1"/>
            <p:nvPr/>
          </p:nvSpPr>
          <p:spPr>
            <a:xfrm>
              <a:off x="285750" y="619125"/>
              <a:ext cx="3448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7D80"/>
                  </a:solidFill>
                  <a:latin typeface="Arial"/>
                  <a:ea typeface="Arial"/>
                  <a:cs typeface="Arial"/>
                  <a:sym typeface="Arial"/>
                </a:rPr>
                <a:t>Unsupervised Discovery</a:t>
              </a:r>
              <a:endParaRPr b="1" sz="1800">
                <a:solidFill>
                  <a:srgbClr val="1E7D8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Unlike supervised learning, clustering allows us to discover natural groupings without pre-defined labels or known outcomes.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2" name="Google Shape;832;p126"/>
          <p:cNvGrpSpPr/>
          <p:nvPr/>
        </p:nvGrpSpPr>
        <p:grpSpPr>
          <a:xfrm>
            <a:off x="4667250" y="1857375"/>
            <a:ext cx="4019700" cy="2190900"/>
            <a:chOff x="0" y="0"/>
            <a:chExt cx="4019700" cy="2190900"/>
          </a:xfrm>
        </p:grpSpPr>
        <p:sp>
          <p:nvSpPr>
            <p:cNvPr id="833" name="Google Shape;833;p126"/>
            <p:cNvSpPr/>
            <p:nvPr/>
          </p:nvSpPr>
          <p:spPr>
            <a:xfrm>
              <a:off x="0" y="0"/>
              <a:ext cx="40197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126"/>
            <p:cNvSpPr/>
            <p:nvPr/>
          </p:nvSpPr>
          <p:spPr>
            <a:xfrm>
              <a:off x="0" y="0"/>
              <a:ext cx="95400" cy="21909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126"/>
            <p:cNvSpPr txBox="1"/>
            <p:nvPr/>
          </p:nvSpPr>
          <p:spPr>
            <a:xfrm>
              <a:off x="285750" y="2636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59C3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2400">
                <a:solidFill>
                  <a:srgbClr val="D59C3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36" name="Google Shape;836;p126"/>
            <p:cNvSpPr txBox="1"/>
            <p:nvPr/>
          </p:nvSpPr>
          <p:spPr>
            <a:xfrm>
              <a:off x="285750" y="619125"/>
              <a:ext cx="3448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59C3E"/>
                  </a:solidFill>
                  <a:latin typeface="Arial"/>
                  <a:ea typeface="Arial"/>
                  <a:cs typeface="Arial"/>
                  <a:sym typeface="Arial"/>
                </a:rPr>
                <a:t>Understanding Heterogeneity</a:t>
              </a:r>
              <a:endParaRPr b="1" sz="1800">
                <a:solidFill>
                  <a:srgbClr val="D59C3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Fundamentally about decoding the diverse behaviors and needs within a vast customer base to drive personalization.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7" name="Google Shape;837;p126"/>
          <p:cNvGrpSpPr/>
          <p:nvPr/>
        </p:nvGrpSpPr>
        <p:grpSpPr>
          <a:xfrm>
            <a:off x="457200" y="4238625"/>
            <a:ext cx="8229600" cy="1905000"/>
            <a:chOff x="0" y="0"/>
            <a:chExt cx="8229600" cy="1905000"/>
          </a:xfrm>
        </p:grpSpPr>
        <p:sp>
          <p:nvSpPr>
            <p:cNvPr id="838" name="Google Shape;838;p126"/>
            <p:cNvSpPr/>
            <p:nvPr/>
          </p:nvSpPr>
          <p:spPr>
            <a:xfrm>
              <a:off x="0" y="0"/>
              <a:ext cx="8229600" cy="1905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126"/>
            <p:cNvSpPr/>
            <p:nvPr/>
          </p:nvSpPr>
          <p:spPr>
            <a:xfrm>
              <a:off x="0" y="0"/>
              <a:ext cx="95400" cy="19050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126"/>
            <p:cNvSpPr txBox="1"/>
            <p:nvPr/>
          </p:nvSpPr>
          <p:spPr>
            <a:xfrm>
              <a:off x="285750" y="225552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4305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business_center</a:t>
              </a:r>
              <a:endParaRPr sz="2400">
                <a:solidFill>
                  <a:srgbClr val="14305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41" name="Google Shape;841;p126"/>
            <p:cNvSpPr txBox="1"/>
            <p:nvPr/>
          </p:nvSpPr>
          <p:spPr>
            <a:xfrm>
              <a:off x="762000" y="190500"/>
              <a:ext cx="718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Answering Core Retail Questions</a:t>
              </a:r>
              <a:endParaRPr b="1" sz="18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26"/>
            <p:cNvSpPr txBox="1"/>
            <p:nvPr/>
          </p:nvSpPr>
          <p:spPr>
            <a:xfrm>
              <a:off x="762000" y="666750"/>
              <a:ext cx="71817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• Who are our most valuable (Hero) customers?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• Which segments are at risk of churning?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• Which groups demonstrate the highest potential lifetime value?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6" name="Google Shape;846;p127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7" name="Google Shape;847;p127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27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127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Feature Engineering: RFM Analysis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50" name="Google Shape;850;p127"/>
          <p:cNvSpPr/>
          <p:nvPr/>
        </p:nvSpPr>
        <p:spPr>
          <a:xfrm>
            <a:off x="457200" y="1000125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127"/>
          <p:cNvSpPr txBox="1"/>
          <p:nvPr/>
        </p:nvSpPr>
        <p:spPr>
          <a:xfrm>
            <a:off x="647700" y="1000125"/>
            <a:ext cx="784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RFM analysis transforms raw transactional history into actionable customer-level metrics.</a:t>
            </a:r>
            <a:endParaRPr i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2" name="Google Shape;852;p127"/>
          <p:cNvGrpSpPr/>
          <p:nvPr/>
        </p:nvGrpSpPr>
        <p:grpSpPr>
          <a:xfrm>
            <a:off x="457200" y="1857375"/>
            <a:ext cx="2571900" cy="3429000"/>
            <a:chOff x="0" y="0"/>
            <a:chExt cx="2571900" cy="3429000"/>
          </a:xfrm>
        </p:grpSpPr>
        <p:sp>
          <p:nvSpPr>
            <p:cNvPr id="853" name="Google Shape;853;p127"/>
            <p:cNvSpPr/>
            <p:nvPr/>
          </p:nvSpPr>
          <p:spPr>
            <a:xfrm>
              <a:off x="0" y="0"/>
              <a:ext cx="2571900" cy="34290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127"/>
            <p:cNvSpPr/>
            <p:nvPr/>
          </p:nvSpPr>
          <p:spPr>
            <a:xfrm>
              <a:off x="0" y="0"/>
              <a:ext cx="95400" cy="3429000"/>
            </a:xfrm>
            <a:prstGeom prst="roundRect">
              <a:avLst>
                <a:gd fmla="val 50000" name="adj"/>
              </a:avLst>
            </a:prstGeom>
            <a:solidFill>
              <a:srgbClr val="1E7D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127"/>
            <p:cNvSpPr txBox="1"/>
            <p:nvPr/>
          </p:nvSpPr>
          <p:spPr>
            <a:xfrm>
              <a:off x="285750" y="225552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E7D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2400">
                <a:solidFill>
                  <a:srgbClr val="1E7D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56" name="Google Shape;856;p127"/>
            <p:cNvSpPr txBox="1"/>
            <p:nvPr/>
          </p:nvSpPr>
          <p:spPr>
            <a:xfrm>
              <a:off x="285750" y="666750"/>
              <a:ext cx="2095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7D80"/>
                  </a:solidFill>
                  <a:latin typeface="Arial"/>
                  <a:ea typeface="Arial"/>
                  <a:cs typeface="Arial"/>
                  <a:sym typeface="Arial"/>
                </a:rPr>
                <a:t>Recency (R)</a:t>
              </a:r>
              <a:endParaRPr b="1" sz="1800">
                <a:solidFill>
                  <a:srgbClr val="1E7D8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Days since last purchase. Measures how recently a customer engaged with the brand.</a:t>
              </a:r>
              <a:endParaRPr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7" name="Google Shape;857;p127"/>
          <p:cNvGrpSpPr/>
          <p:nvPr/>
        </p:nvGrpSpPr>
        <p:grpSpPr>
          <a:xfrm>
            <a:off x="3286125" y="1857375"/>
            <a:ext cx="2571900" cy="3429000"/>
            <a:chOff x="0" y="0"/>
            <a:chExt cx="2571900" cy="3429000"/>
          </a:xfrm>
        </p:grpSpPr>
        <p:sp>
          <p:nvSpPr>
            <p:cNvPr id="858" name="Google Shape;858;p127"/>
            <p:cNvSpPr/>
            <p:nvPr/>
          </p:nvSpPr>
          <p:spPr>
            <a:xfrm>
              <a:off x="0" y="0"/>
              <a:ext cx="2571900" cy="34290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127"/>
            <p:cNvSpPr/>
            <p:nvPr/>
          </p:nvSpPr>
          <p:spPr>
            <a:xfrm>
              <a:off x="0" y="0"/>
              <a:ext cx="95400" cy="34290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127"/>
            <p:cNvSpPr txBox="1"/>
            <p:nvPr/>
          </p:nvSpPr>
          <p:spPr>
            <a:xfrm>
              <a:off x="285750" y="225552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59C3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repeat</a:t>
              </a:r>
              <a:endParaRPr sz="2400">
                <a:solidFill>
                  <a:srgbClr val="D59C3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1" name="Google Shape;861;p127"/>
            <p:cNvSpPr txBox="1"/>
            <p:nvPr/>
          </p:nvSpPr>
          <p:spPr>
            <a:xfrm>
              <a:off x="285750" y="666750"/>
              <a:ext cx="2095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59C3E"/>
                  </a:solidFill>
                  <a:latin typeface="Arial"/>
                  <a:ea typeface="Arial"/>
                  <a:cs typeface="Arial"/>
                  <a:sym typeface="Arial"/>
                </a:rPr>
                <a:t>Frequency (F)</a:t>
              </a:r>
              <a:endParaRPr b="1" sz="1800">
                <a:solidFill>
                  <a:srgbClr val="D59C3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Total number of transactions. Indicates loyalty and the habitual nature of purchasing.</a:t>
              </a:r>
              <a:endParaRPr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127"/>
          <p:cNvGrpSpPr/>
          <p:nvPr/>
        </p:nvGrpSpPr>
        <p:grpSpPr>
          <a:xfrm>
            <a:off x="6115050" y="1857375"/>
            <a:ext cx="2571900" cy="3429000"/>
            <a:chOff x="0" y="0"/>
            <a:chExt cx="2571900" cy="3429000"/>
          </a:xfrm>
        </p:grpSpPr>
        <p:sp>
          <p:nvSpPr>
            <p:cNvPr id="863" name="Google Shape;863;p127"/>
            <p:cNvSpPr/>
            <p:nvPr/>
          </p:nvSpPr>
          <p:spPr>
            <a:xfrm>
              <a:off x="0" y="0"/>
              <a:ext cx="2571900" cy="3429000"/>
            </a:xfrm>
            <a:prstGeom prst="roundRect">
              <a:avLst>
                <a:gd fmla="val 296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127"/>
            <p:cNvSpPr/>
            <p:nvPr/>
          </p:nvSpPr>
          <p:spPr>
            <a:xfrm>
              <a:off x="0" y="0"/>
              <a:ext cx="95400" cy="34290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127"/>
            <p:cNvSpPr txBox="1"/>
            <p:nvPr/>
          </p:nvSpPr>
          <p:spPr>
            <a:xfrm>
              <a:off x="285750" y="225552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4305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payments</a:t>
              </a:r>
              <a:endParaRPr sz="2400">
                <a:solidFill>
                  <a:srgbClr val="14305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66" name="Google Shape;866;p127"/>
            <p:cNvSpPr txBox="1"/>
            <p:nvPr/>
          </p:nvSpPr>
          <p:spPr>
            <a:xfrm>
              <a:off x="285750" y="666750"/>
              <a:ext cx="2095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Monetary (M)</a:t>
              </a:r>
              <a:endParaRPr b="1" sz="18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Total spending (Revenue). Reflects the financial contribution and customer lifetime value.</a:t>
              </a:r>
              <a:endParaRPr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7" name="Google Shape;867;p127"/>
          <p:cNvSpPr/>
          <p:nvPr/>
        </p:nvSpPr>
        <p:spPr>
          <a:xfrm>
            <a:off x="457200" y="5524500"/>
            <a:ext cx="8229600" cy="762000"/>
          </a:xfrm>
          <a:prstGeom prst="roundRect">
            <a:avLst>
              <a:gd fmla="val 1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27"/>
          <p:cNvSpPr txBox="1"/>
          <p:nvPr/>
        </p:nvSpPr>
        <p:spPr>
          <a:xfrm>
            <a:off x="647700" y="5524500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Data Aggregation: </a:t>
            </a:r>
            <a:r>
              <a:rPr b="0" lang="en-US" sz="14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Individual invoices are grouped by CustomerID to create a single row per unique customer.</a:t>
            </a:r>
            <a:endParaRPr b="1" sz="14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28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28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28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Advanced Feature Engineering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76" name="Google Shape;876;p128"/>
          <p:cNvSpPr/>
          <p:nvPr/>
        </p:nvSpPr>
        <p:spPr>
          <a:xfrm>
            <a:off x="457200" y="1000125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7" name="Google Shape;877;p128"/>
          <p:cNvSpPr txBox="1"/>
          <p:nvPr/>
        </p:nvSpPr>
        <p:spPr>
          <a:xfrm>
            <a:off x="647700" y="1000125"/>
            <a:ext cx="784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expanded the core RFM features by engineering behavioral metrics that capture relationship duration, purchasing intensity, and category depth.</a:t>
            </a:r>
            <a:endParaRPr b="0" i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8" name="Google Shape;878;p128"/>
          <p:cNvGrpSpPr/>
          <p:nvPr/>
        </p:nvGrpSpPr>
        <p:grpSpPr>
          <a:xfrm>
            <a:off x="457200" y="1857375"/>
            <a:ext cx="4019700" cy="2190900"/>
            <a:chOff x="457200" y="1857375"/>
            <a:chExt cx="4019700" cy="2190900"/>
          </a:xfrm>
        </p:grpSpPr>
        <p:sp>
          <p:nvSpPr>
            <p:cNvPr id="879" name="Google Shape;879;p128"/>
            <p:cNvSpPr/>
            <p:nvPr/>
          </p:nvSpPr>
          <p:spPr>
            <a:xfrm>
              <a:off x="457200" y="1857375"/>
              <a:ext cx="40197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128"/>
            <p:cNvSpPr/>
            <p:nvPr/>
          </p:nvSpPr>
          <p:spPr>
            <a:xfrm>
              <a:off x="457200" y="1857375"/>
              <a:ext cx="95400" cy="2190900"/>
            </a:xfrm>
            <a:prstGeom prst="roundRect">
              <a:avLst>
                <a:gd fmla="val 50000" name="adj"/>
              </a:avLst>
            </a:prstGeom>
            <a:solidFill>
              <a:srgbClr val="1E7D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128"/>
            <p:cNvSpPr txBox="1"/>
            <p:nvPr/>
          </p:nvSpPr>
          <p:spPr>
            <a:xfrm>
              <a:off x="742950" y="2082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E7D8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history</a:t>
              </a:r>
              <a:endParaRPr sz="2400">
                <a:solidFill>
                  <a:srgbClr val="1E7D8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2" name="Google Shape;882;p128"/>
            <p:cNvSpPr txBox="1"/>
            <p:nvPr/>
          </p:nvSpPr>
          <p:spPr>
            <a:xfrm>
              <a:off x="742950" y="2476500"/>
              <a:ext cx="3448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E7D80"/>
                  </a:solidFill>
                  <a:latin typeface="Arial"/>
                  <a:ea typeface="Arial"/>
                  <a:cs typeface="Arial"/>
                  <a:sym typeface="Arial"/>
                </a:rPr>
                <a:t>Customer Lifetime Days</a:t>
              </a:r>
              <a:endParaRPr b="1" sz="1800">
                <a:solidFill>
                  <a:srgbClr val="1E7D8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Measures customer tenure as the total days elapsed between their first and most recent purchase.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3" name="Google Shape;883;p128"/>
          <p:cNvGrpSpPr/>
          <p:nvPr/>
        </p:nvGrpSpPr>
        <p:grpSpPr>
          <a:xfrm>
            <a:off x="4667250" y="1857375"/>
            <a:ext cx="4019700" cy="2190900"/>
            <a:chOff x="4667250" y="1857375"/>
            <a:chExt cx="4019700" cy="2190900"/>
          </a:xfrm>
        </p:grpSpPr>
        <p:sp>
          <p:nvSpPr>
            <p:cNvPr id="884" name="Google Shape;884;p128"/>
            <p:cNvSpPr/>
            <p:nvPr/>
          </p:nvSpPr>
          <p:spPr>
            <a:xfrm>
              <a:off x="4667250" y="1857375"/>
              <a:ext cx="40197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128"/>
            <p:cNvSpPr/>
            <p:nvPr/>
          </p:nvSpPr>
          <p:spPr>
            <a:xfrm>
              <a:off x="4667250" y="1857375"/>
              <a:ext cx="95400" cy="21909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128"/>
            <p:cNvSpPr txBox="1"/>
            <p:nvPr/>
          </p:nvSpPr>
          <p:spPr>
            <a:xfrm>
              <a:off x="4953000" y="208292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D59C3E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paid</a:t>
              </a:r>
              <a:endParaRPr sz="2400">
                <a:solidFill>
                  <a:srgbClr val="D59C3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87" name="Google Shape;887;p128"/>
            <p:cNvSpPr txBox="1"/>
            <p:nvPr/>
          </p:nvSpPr>
          <p:spPr>
            <a:xfrm>
              <a:off x="4953000" y="2476500"/>
              <a:ext cx="3448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D59C3E"/>
                  </a:solidFill>
                  <a:latin typeface="Arial"/>
                  <a:ea typeface="Arial"/>
                  <a:cs typeface="Arial"/>
                  <a:sym typeface="Arial"/>
                </a:rPr>
                <a:t>Avg Order Value</a:t>
              </a:r>
              <a:endParaRPr b="1" sz="1800">
                <a:solidFill>
                  <a:srgbClr val="D59C3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Calculates the average transaction size, identifying purchasing power and typical spending levels.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8" name="Google Shape;888;p128"/>
          <p:cNvGrpSpPr/>
          <p:nvPr/>
        </p:nvGrpSpPr>
        <p:grpSpPr>
          <a:xfrm>
            <a:off x="457200" y="4238625"/>
            <a:ext cx="4019700" cy="2190900"/>
            <a:chOff x="457200" y="4238625"/>
            <a:chExt cx="4019700" cy="2190900"/>
          </a:xfrm>
        </p:grpSpPr>
        <p:sp>
          <p:nvSpPr>
            <p:cNvPr id="889" name="Google Shape;889;p128"/>
            <p:cNvSpPr/>
            <p:nvPr/>
          </p:nvSpPr>
          <p:spPr>
            <a:xfrm>
              <a:off x="457200" y="4238625"/>
              <a:ext cx="40197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128"/>
            <p:cNvSpPr/>
            <p:nvPr/>
          </p:nvSpPr>
          <p:spPr>
            <a:xfrm>
              <a:off x="457200" y="4238625"/>
              <a:ext cx="95400" cy="21909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128"/>
            <p:cNvSpPr txBox="1"/>
            <p:nvPr/>
          </p:nvSpPr>
          <p:spPr>
            <a:xfrm>
              <a:off x="742950" y="4464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14305C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category</a:t>
              </a:r>
              <a:endParaRPr sz="2400">
                <a:solidFill>
                  <a:srgbClr val="14305C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92" name="Google Shape;892;p128"/>
            <p:cNvSpPr txBox="1"/>
            <p:nvPr/>
          </p:nvSpPr>
          <p:spPr>
            <a:xfrm>
              <a:off x="742950" y="4857750"/>
              <a:ext cx="3448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Product Diversity</a:t>
              </a:r>
              <a:endParaRPr b="1" sz="18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Counts unique products purchased to understand category breadth and shopping scope.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3" name="Google Shape;893;p128"/>
          <p:cNvGrpSpPr/>
          <p:nvPr/>
        </p:nvGrpSpPr>
        <p:grpSpPr>
          <a:xfrm>
            <a:off x="4667250" y="4238625"/>
            <a:ext cx="4019700" cy="2190900"/>
            <a:chOff x="4667250" y="4238625"/>
            <a:chExt cx="4019700" cy="2190900"/>
          </a:xfrm>
        </p:grpSpPr>
        <p:sp>
          <p:nvSpPr>
            <p:cNvPr id="894" name="Google Shape;894;p128"/>
            <p:cNvSpPr/>
            <p:nvPr/>
          </p:nvSpPr>
          <p:spPr>
            <a:xfrm>
              <a:off x="4667250" y="4238625"/>
              <a:ext cx="4019700" cy="2190900"/>
            </a:xfrm>
            <a:prstGeom prst="roundRect">
              <a:avLst>
                <a:gd fmla="val 347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128"/>
            <p:cNvSpPr/>
            <p:nvPr/>
          </p:nvSpPr>
          <p:spPr>
            <a:xfrm>
              <a:off x="4667250" y="4238625"/>
              <a:ext cx="95400" cy="2190900"/>
            </a:xfrm>
            <a:prstGeom prst="roundRect">
              <a:avLst>
                <a:gd fmla="val 50000" name="adj"/>
              </a:avLst>
            </a:prstGeom>
            <a:solidFill>
              <a:srgbClr val="47556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128"/>
            <p:cNvSpPr txBox="1"/>
            <p:nvPr/>
          </p:nvSpPr>
          <p:spPr>
            <a:xfrm>
              <a:off x="4953000" y="4464177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4755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trending_up</a:t>
              </a:r>
              <a:endParaRPr sz="2400">
                <a:solidFill>
                  <a:srgbClr val="4755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897" name="Google Shape;897;p128"/>
            <p:cNvSpPr txBox="1"/>
            <p:nvPr/>
          </p:nvSpPr>
          <p:spPr>
            <a:xfrm>
              <a:off x="4953000" y="4857750"/>
              <a:ext cx="3448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Purchase Frequency</a:t>
              </a:r>
              <a:endParaRPr b="1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4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Measures daily engagement intensity by normalizing transaction counts over the customer's active tenure.</a:t>
              </a:r>
              <a:endParaRPr b="0" sz="14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" name="Google Shape;901;p129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2" name="Google Shape;902;p129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129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129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EDA: Feature Distribution Analysis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05" name="Google Shape;905;p129"/>
          <p:cNvSpPr/>
          <p:nvPr/>
        </p:nvSpPr>
        <p:spPr>
          <a:xfrm>
            <a:off x="457200" y="1000125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129"/>
          <p:cNvSpPr txBox="1"/>
          <p:nvPr/>
        </p:nvSpPr>
        <p:spPr>
          <a:xfrm>
            <a:off x="647700" y="1000125"/>
            <a:ext cx="784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Exploratory data analysis builds intuition and reveals heavy-tailed patterns that inform our transformation strategy.</a:t>
            </a:r>
            <a:endParaRPr b="0" i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7" name="Google Shape;907;p129"/>
          <p:cNvGrpSpPr/>
          <p:nvPr/>
        </p:nvGrpSpPr>
        <p:grpSpPr>
          <a:xfrm>
            <a:off x="5048250" y="1857375"/>
            <a:ext cx="3638700" cy="3619500"/>
            <a:chOff x="0" y="0"/>
            <a:chExt cx="3638700" cy="3619500"/>
          </a:xfrm>
        </p:grpSpPr>
        <p:sp>
          <p:nvSpPr>
            <p:cNvPr id="908" name="Google Shape;908;p129"/>
            <p:cNvSpPr/>
            <p:nvPr/>
          </p:nvSpPr>
          <p:spPr>
            <a:xfrm>
              <a:off x="0" y="0"/>
              <a:ext cx="3638700" cy="3619500"/>
            </a:xfrm>
            <a:prstGeom prst="roundRect">
              <a:avLst>
                <a:gd fmla="val 21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129"/>
            <p:cNvSpPr/>
            <p:nvPr/>
          </p:nvSpPr>
          <p:spPr>
            <a:xfrm>
              <a:off x="0" y="0"/>
              <a:ext cx="95400" cy="36195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129"/>
            <p:cNvSpPr txBox="1"/>
            <p:nvPr/>
          </p:nvSpPr>
          <p:spPr>
            <a:xfrm>
              <a:off x="285750" y="238125"/>
              <a:ext cx="3162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8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Key Distribution Insights</a:t>
              </a:r>
              <a:endParaRPr b="1" sz="148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0833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232B3A"/>
                </a:buClr>
                <a:buSzPts val="1295"/>
                <a:buFont typeface="Arial"/>
                <a:buChar char="●"/>
              </a:pPr>
              <a:r>
                <a:rPr b="1" lang="en-US" sz="1295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Right-Skewed Data:</a:t>
              </a:r>
              <a:r>
                <a:rPr b="0" lang="en-US" sz="1295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RFM features show strong right skew (e.g., Avg_Order_Value skew: 47.48).</a:t>
              </a:r>
              <a:endParaRPr b="0" sz="129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32B3A"/>
                </a:buClr>
                <a:buSzPts val="1295"/>
                <a:buFont typeface="Arial"/>
                <a:buChar char="●"/>
              </a:pPr>
              <a:r>
                <a:rPr b="1" lang="en-US" sz="1295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Outlier Dominance:</a:t>
              </a:r>
              <a:r>
                <a:rPr b="0" lang="en-US" sz="1295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Raw metrics will dominate Euclidean distance calculations due to heavy tails.</a:t>
              </a:r>
              <a:endParaRPr b="0" sz="129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0833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32B3A"/>
                </a:buClr>
                <a:buSzPts val="1295"/>
                <a:buFont typeface="Arial"/>
                <a:buChar char="●"/>
              </a:pPr>
              <a:r>
                <a:rPr b="1" lang="en-US" sz="1295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Modeling Decision:</a:t>
              </a:r>
              <a:r>
                <a:rPr b="0" lang="en-US" sz="1295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Log transformations are required to stabilize variance before clustering.</a:t>
              </a:r>
              <a:endParaRPr b="0" sz="129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i="1" lang="en-US" sz="1295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Note: Skewness &gt; 1 indicates strong deviation from normality.</a:t>
              </a:r>
              <a:endParaRPr b="0" i="1" sz="129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" name="Google Shape;911;p129"/>
          <p:cNvSpPr/>
          <p:nvPr/>
        </p:nvSpPr>
        <p:spPr>
          <a:xfrm>
            <a:off x="457200" y="5667375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129"/>
          <p:cNvSpPr txBox="1"/>
          <p:nvPr/>
        </p:nvSpPr>
        <p:spPr>
          <a:xfrm>
            <a:off x="4263850" y="5667375"/>
            <a:ext cx="42324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Observations: </a:t>
            </a:r>
            <a:r>
              <a:rPr b="0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Most customers are infrequent, low-value buyers; a minority represent high-value loyalty segments.</a:t>
            </a:r>
            <a:endParaRPr b="1" sz="1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3" name="Google Shape;913;p129"/>
          <p:cNvGrpSpPr/>
          <p:nvPr/>
        </p:nvGrpSpPr>
        <p:grpSpPr>
          <a:xfrm>
            <a:off x="457200" y="1857375"/>
            <a:ext cx="4381500" cy="4476900"/>
            <a:chOff x="0" y="0"/>
            <a:chExt cx="4381500" cy="4476900"/>
          </a:xfrm>
        </p:grpSpPr>
        <p:sp>
          <p:nvSpPr>
            <p:cNvPr id="914" name="Google Shape;914;p129"/>
            <p:cNvSpPr/>
            <p:nvPr/>
          </p:nvSpPr>
          <p:spPr>
            <a:xfrm>
              <a:off x="0" y="0"/>
              <a:ext cx="4381500" cy="3619500"/>
            </a:xfrm>
            <a:prstGeom prst="roundRect">
              <a:avLst>
                <a:gd fmla="val 21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15" name="Google Shape;915;p129"/>
            <p:cNvPicPr preferRelativeResize="0"/>
            <p:nvPr/>
          </p:nvPicPr>
          <p:blipFill rotWithShape="1">
            <a:blip r:embed="rId4">
              <a:alphaModFix/>
            </a:blip>
            <a:srcRect b="0" l="1656" r="32101" t="0"/>
            <a:stretch/>
          </p:blipFill>
          <p:spPr>
            <a:xfrm>
              <a:off x="0" y="0"/>
              <a:ext cx="3712800" cy="4476900"/>
            </a:xfrm>
            <a:prstGeom prst="roundRect">
              <a:avLst>
                <a:gd fmla="val 2105" name="adj"/>
              </a:avLst>
            </a:prstGeom>
            <a:noFill/>
            <a:ln>
              <a:noFill/>
            </a:ln>
          </p:spPr>
        </p:pic>
        <p:sp>
          <p:nvSpPr>
            <p:cNvPr id="916" name="Google Shape;916;p129"/>
            <p:cNvSpPr/>
            <p:nvPr/>
          </p:nvSpPr>
          <p:spPr>
            <a:xfrm>
              <a:off x="0" y="0"/>
              <a:ext cx="95400" cy="3619500"/>
            </a:xfrm>
            <a:prstGeom prst="roundRect">
              <a:avLst>
                <a:gd fmla="val 50000" name="adj"/>
              </a:avLst>
            </a:prstGeom>
            <a:solidFill>
              <a:srgbClr val="1E7D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" name="Google Shape;921;p130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130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130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130"/>
          <p:cNvSpPr txBox="1"/>
          <p:nvPr>
            <p:ph type="title"/>
          </p:nvPr>
        </p:nvSpPr>
        <p:spPr>
          <a:xfrm>
            <a:off x="457200" y="10477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EDA: Feature Correlation Analysis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25" name="Google Shape;925;p130"/>
          <p:cNvSpPr/>
          <p:nvPr/>
        </p:nvSpPr>
        <p:spPr>
          <a:xfrm>
            <a:off x="457200" y="1000125"/>
            <a:ext cx="8229600" cy="476400"/>
          </a:xfrm>
          <a:prstGeom prst="roundRect">
            <a:avLst>
              <a:gd fmla="val 16000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130"/>
          <p:cNvSpPr txBox="1"/>
          <p:nvPr/>
        </p:nvSpPr>
        <p:spPr>
          <a:xfrm>
            <a:off x="647700" y="1000125"/>
            <a:ext cx="7848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Correlation analysis reveals dependencies between engineered features, guiding dimensionality reduction and model selection.</a:t>
            </a:r>
            <a:endParaRPr b="0" i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130"/>
          <p:cNvSpPr/>
          <p:nvPr/>
        </p:nvSpPr>
        <p:spPr>
          <a:xfrm>
            <a:off x="457200" y="1619250"/>
            <a:ext cx="4381500" cy="4000500"/>
          </a:xfrm>
          <a:prstGeom prst="roundRect">
            <a:avLst>
              <a:gd fmla="val 19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8" name="Google Shape;928;p130"/>
          <p:cNvPicPr preferRelativeResize="0"/>
          <p:nvPr/>
        </p:nvPicPr>
        <p:blipFill rotWithShape="1">
          <a:blip r:embed="rId4">
            <a:alphaModFix/>
          </a:blip>
          <a:srcRect b="651" l="0" r="0" t="651"/>
          <a:stretch/>
        </p:blipFill>
        <p:spPr>
          <a:xfrm>
            <a:off x="647700" y="1809750"/>
            <a:ext cx="40005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130"/>
          <p:cNvSpPr/>
          <p:nvPr/>
        </p:nvSpPr>
        <p:spPr>
          <a:xfrm>
            <a:off x="5048250" y="1619250"/>
            <a:ext cx="3638700" cy="4000500"/>
          </a:xfrm>
          <a:prstGeom prst="roundRect">
            <a:avLst>
              <a:gd fmla="val 209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130"/>
          <p:cNvSpPr/>
          <p:nvPr/>
        </p:nvSpPr>
        <p:spPr>
          <a:xfrm>
            <a:off x="5048250" y="1619250"/>
            <a:ext cx="95400" cy="4000500"/>
          </a:xfrm>
          <a:prstGeom prst="roundRect">
            <a:avLst>
              <a:gd fmla="val 50000" name="adj"/>
            </a:avLst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130"/>
          <p:cNvSpPr txBox="1"/>
          <p:nvPr/>
        </p:nvSpPr>
        <p:spPr>
          <a:xfrm>
            <a:off x="5334000" y="1809750"/>
            <a:ext cx="3162300" cy="361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Key Correlation Insights</a:t>
            </a:r>
            <a:endParaRPr b="1" sz="12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b="1" lang="en-US" sz="1000">
                <a:solidFill>
                  <a:srgbClr val="1F1F1F"/>
                </a:solidFill>
                <a:highlight>
                  <a:srgbClr val="FFFFFF"/>
                </a:highlight>
              </a:rPr>
              <a:t>High Correlations</a:t>
            </a:r>
            <a:r>
              <a:rPr lang="en-US" sz="1000">
                <a:solidFill>
                  <a:srgbClr val="1F1F1F"/>
                </a:solidFill>
                <a:highlight>
                  <a:srgbClr val="FFFFFF"/>
                </a:highlight>
              </a:rPr>
              <a:t>: Total_Revenue and Average_Order_Value are moderately correlated with Monetary and Frequency, which is expected given feature definitions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b="1" lang="en-US" sz="1000">
                <a:solidFill>
                  <a:srgbClr val="1F1F1F"/>
                </a:solidFill>
                <a:highlight>
                  <a:srgbClr val="FFFFFF"/>
                </a:highlight>
              </a:rPr>
              <a:t>Independence</a:t>
            </a:r>
            <a:r>
              <a:rPr lang="en-US" sz="1000">
                <a:solidFill>
                  <a:srgbClr val="1F1F1F"/>
                </a:solidFill>
                <a:highlight>
                  <a:srgbClr val="FFFFFF"/>
                </a:highlight>
              </a:rPr>
              <a:t>: Recency shows weak correlation with other features, indicating it captures unique temporal information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b="1" lang="en-US" sz="1000">
                <a:solidFill>
                  <a:srgbClr val="1F1F1F"/>
                </a:solidFill>
                <a:highlight>
                  <a:srgbClr val="FFFFFF"/>
                </a:highlight>
              </a:rPr>
              <a:t>Multicollinearity</a:t>
            </a:r>
            <a:r>
              <a:rPr lang="en-US" sz="1000">
                <a:solidFill>
                  <a:srgbClr val="1F1F1F"/>
                </a:solidFill>
                <a:highlight>
                  <a:srgbClr val="FFFFFF"/>
                </a:highlight>
              </a:rPr>
              <a:t>: Some features (e.g., Total_Quantity and Total_Revenue) are naturally correlated due to definition. This is acceptable for clustering but should be noted.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000"/>
              <a:buChar char="●"/>
            </a:pPr>
            <a:r>
              <a:rPr b="1" lang="en-US" sz="1000">
                <a:solidFill>
                  <a:srgbClr val="1F1F1F"/>
                </a:solidFill>
                <a:highlight>
                  <a:srgbClr val="FFFFFF"/>
                </a:highlight>
              </a:rPr>
              <a:t>PCA Justification</a:t>
            </a:r>
            <a:r>
              <a:rPr lang="en-US" sz="1000">
                <a:solidFill>
                  <a:srgbClr val="1F1F1F"/>
                </a:solidFill>
                <a:highlight>
                  <a:srgbClr val="FFFFFF"/>
                </a:highlight>
              </a:rPr>
              <a:t>: The presence of correlations validates the use of PCA to extract orthogonal components</a:t>
            </a:r>
            <a:endParaRPr sz="10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i="1"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Note: PCA will be applied to address redundancy among correlated features.</a:t>
            </a:r>
            <a:endParaRPr b="0" i="1" sz="9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130"/>
          <p:cNvSpPr/>
          <p:nvPr/>
        </p:nvSpPr>
        <p:spPr>
          <a:xfrm>
            <a:off x="457200" y="5810250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130"/>
          <p:cNvSpPr txBox="1"/>
          <p:nvPr/>
        </p:nvSpPr>
        <p:spPr>
          <a:xfrm>
            <a:off x="647700" y="5810250"/>
            <a:ext cx="78486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Observations: </a:t>
            </a:r>
            <a:r>
              <a:rPr b="0" lang="en-U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High correlation between Frequency and Product Diversity (0.87) suggests these features provide redundant information.</a:t>
            </a:r>
            <a:endParaRPr b="1" sz="11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7" name="Google Shape;937;p1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40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8" name="Google Shape;938;p131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131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131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EDA: Outlier Detection &amp; Correlation Analysis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41" name="Google Shape;941;p131"/>
          <p:cNvSpPr/>
          <p:nvPr/>
        </p:nvSpPr>
        <p:spPr>
          <a:xfrm>
            <a:off x="457200" y="1000125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131"/>
          <p:cNvSpPr txBox="1"/>
          <p:nvPr/>
        </p:nvSpPr>
        <p:spPr>
          <a:xfrm>
            <a:off x="647700" y="1000125"/>
            <a:ext cx="784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3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Visualizing data distribution through boxplots helps identify significant outliers and justifies the transformation strategy.</a:t>
            </a:r>
            <a:endParaRPr i="1" sz="13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3" name="Google Shape;943;p131"/>
          <p:cNvGrpSpPr/>
          <p:nvPr/>
        </p:nvGrpSpPr>
        <p:grpSpPr>
          <a:xfrm>
            <a:off x="5048250" y="1857375"/>
            <a:ext cx="3638700" cy="3619500"/>
            <a:chOff x="0" y="0"/>
            <a:chExt cx="3638700" cy="3619500"/>
          </a:xfrm>
        </p:grpSpPr>
        <p:sp>
          <p:nvSpPr>
            <p:cNvPr id="944" name="Google Shape;944;p131"/>
            <p:cNvSpPr/>
            <p:nvPr/>
          </p:nvSpPr>
          <p:spPr>
            <a:xfrm>
              <a:off x="0" y="0"/>
              <a:ext cx="3638700" cy="3619500"/>
            </a:xfrm>
            <a:prstGeom prst="roundRect">
              <a:avLst>
                <a:gd fmla="val 21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131"/>
            <p:cNvSpPr/>
            <p:nvPr/>
          </p:nvSpPr>
          <p:spPr>
            <a:xfrm>
              <a:off x="0" y="0"/>
              <a:ext cx="95400" cy="36195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131"/>
            <p:cNvSpPr txBox="1"/>
            <p:nvPr/>
          </p:nvSpPr>
          <p:spPr>
            <a:xfrm>
              <a:off x="285750" y="238125"/>
              <a:ext cx="31623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Key Observations</a:t>
              </a:r>
              <a:endParaRPr b="1" sz="13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1F1F1F"/>
                  </a:solidFill>
                  <a:highlight>
                    <a:srgbClr val="FFFFFF"/>
                  </a:highlight>
                </a:rPr>
                <a:t>Outliers are present in most features (5-15%), particularly in Monetary and Frequency. In customer segmentation, outliers are not necessarily errors they represent genuine business value (high-value customers). Our clustering algorithm must handle them appropriately:</a:t>
              </a:r>
              <a:endParaRPr sz="11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F1F1F"/>
                </a:buClr>
                <a:buSzPts val="1100"/>
                <a:buChar char="●"/>
              </a:pPr>
              <a:r>
                <a:rPr b="1" lang="en-US" sz="1100">
                  <a:solidFill>
                    <a:srgbClr val="1F1F1F"/>
                  </a:solidFill>
                  <a:highlight>
                    <a:srgbClr val="FFFFFF"/>
                  </a:highlight>
                </a:rPr>
                <a:t>K-Means</a:t>
              </a:r>
              <a:r>
                <a:rPr lang="en-US" sz="1100">
                  <a:solidFill>
                    <a:srgbClr val="1F1F1F"/>
                  </a:solidFill>
                  <a:highlight>
                    <a:srgbClr val="FFFFFF"/>
                  </a:highlight>
                </a:rPr>
                <a:t>: Sensitive to outliers; we'll rely on scaling to mitigate</a:t>
              </a:r>
              <a:endParaRPr sz="11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100"/>
                <a:buChar char="●"/>
              </a:pPr>
              <a:r>
                <a:rPr b="1" lang="en-US" sz="1100">
                  <a:solidFill>
                    <a:srgbClr val="1F1F1F"/>
                  </a:solidFill>
                  <a:highlight>
                    <a:srgbClr val="FFFFFF"/>
                  </a:highlight>
                </a:rPr>
                <a:t>Hierarchical</a:t>
              </a:r>
              <a:r>
                <a:rPr lang="en-US" sz="1100">
                  <a:solidFill>
                    <a:srgbClr val="1F1F1F"/>
                  </a:solidFill>
                  <a:highlight>
                    <a:srgbClr val="FFFFFF"/>
                  </a:highlight>
                </a:rPr>
                <a:t>: Less sensitive but still influenced</a:t>
              </a:r>
              <a:endParaRPr sz="11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984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1100"/>
                <a:buChar char="●"/>
              </a:pPr>
              <a:r>
                <a:rPr b="1" lang="en-US" sz="1100">
                  <a:solidFill>
                    <a:srgbClr val="1F1F1F"/>
                  </a:solidFill>
                  <a:highlight>
                    <a:srgbClr val="FFFFFF"/>
                  </a:highlight>
                </a:rPr>
                <a:t>DBSCAN</a:t>
              </a:r>
              <a:r>
                <a:rPr lang="en-US" sz="1100">
                  <a:solidFill>
                    <a:srgbClr val="1F1F1F"/>
                  </a:solidFill>
                  <a:highlight>
                    <a:srgbClr val="FFFFFF"/>
                  </a:highlight>
                </a:rPr>
                <a:t>: Can naturally identify outliers as noise points</a:t>
              </a:r>
              <a:endParaRPr b="1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7" name="Google Shape;947;p131"/>
          <p:cNvSpPr/>
          <p:nvPr/>
        </p:nvSpPr>
        <p:spPr>
          <a:xfrm>
            <a:off x="457200" y="5667375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8" name="Google Shape;948;p131"/>
          <p:cNvSpPr txBox="1"/>
          <p:nvPr/>
        </p:nvSpPr>
        <p:spPr>
          <a:xfrm>
            <a:off x="647700" y="5667375"/>
            <a:ext cx="784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Outlier Summary: </a:t>
            </a:r>
            <a:r>
              <a:rPr b="0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IQR method reveals heavy-tailed distributions across all RFM features, necessitating log scaling before distance-based clustering.</a:t>
            </a:r>
            <a:endParaRPr b="1" sz="1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9" name="Google Shape;949;p131" title="bp.png"/>
          <p:cNvPicPr preferRelativeResize="0"/>
          <p:nvPr/>
        </p:nvPicPr>
        <p:blipFill rotWithShape="1">
          <a:blip r:embed="rId4">
            <a:alphaModFix/>
          </a:blip>
          <a:srcRect b="0" l="0" r="33683" t="0"/>
          <a:stretch/>
        </p:blipFill>
        <p:spPr>
          <a:xfrm>
            <a:off x="928085" y="1819500"/>
            <a:ext cx="3540714" cy="3540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3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132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132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132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Outlier Implications &amp; EDA Conclusions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57" name="Google Shape;957;p132"/>
          <p:cNvSpPr/>
          <p:nvPr/>
        </p:nvSpPr>
        <p:spPr>
          <a:xfrm>
            <a:off x="457200" y="1000125"/>
            <a:ext cx="8229600" cy="571500"/>
          </a:xfrm>
          <a:prstGeom prst="roundRect">
            <a:avLst>
              <a:gd fmla="val 13333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132"/>
          <p:cNvSpPr txBox="1"/>
          <p:nvPr/>
        </p:nvSpPr>
        <p:spPr>
          <a:xfrm>
            <a:off x="647700" y="1000125"/>
            <a:ext cx="7848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18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Outliers in customer segmentation represent genuine business value (high-value customers) rather than data errors.</a:t>
            </a:r>
            <a:endParaRPr b="0" i="1" sz="1018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9" name="Google Shape;959;p132"/>
          <p:cNvPicPr preferRelativeResize="0"/>
          <p:nvPr/>
        </p:nvPicPr>
        <p:blipFill rotWithShape="1">
          <a:blip r:embed="rId3">
            <a:alphaModFix/>
          </a:blip>
          <a:srcRect b="0" l="9063" r="9063" t="0"/>
          <a:stretch/>
        </p:blipFill>
        <p:spPr>
          <a:xfrm>
            <a:off x="457200" y="1762125"/>
            <a:ext cx="4381500" cy="3810000"/>
          </a:xfrm>
          <a:prstGeom prst="roundRect">
            <a:avLst>
              <a:gd fmla="val 2000" name="adj"/>
            </a:avLst>
          </a:prstGeom>
          <a:noFill/>
          <a:ln>
            <a:noFill/>
          </a:ln>
        </p:spPr>
      </p:pic>
      <p:sp>
        <p:nvSpPr>
          <p:cNvPr id="960" name="Google Shape;960;p132"/>
          <p:cNvSpPr/>
          <p:nvPr/>
        </p:nvSpPr>
        <p:spPr>
          <a:xfrm>
            <a:off x="5029200" y="1762125"/>
            <a:ext cx="3657600" cy="2000100"/>
          </a:xfrm>
          <a:prstGeom prst="roundRect">
            <a:avLst>
              <a:gd fmla="val 380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132"/>
          <p:cNvSpPr/>
          <p:nvPr/>
        </p:nvSpPr>
        <p:spPr>
          <a:xfrm>
            <a:off x="5029200" y="1762125"/>
            <a:ext cx="95400" cy="2000100"/>
          </a:xfrm>
          <a:prstGeom prst="roundRect">
            <a:avLst>
              <a:gd fmla="val 50000" name="adj"/>
            </a:avLst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132"/>
          <p:cNvSpPr txBox="1"/>
          <p:nvPr/>
        </p:nvSpPr>
        <p:spPr>
          <a:xfrm>
            <a:off x="5314950" y="1905000"/>
            <a:ext cx="3238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Clustering Sensitivity</a:t>
            </a:r>
            <a:endParaRPr b="1" sz="148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600"/>
              </a:spcBef>
              <a:spcAft>
                <a:spcPts val="0"/>
              </a:spcAft>
              <a:buClr>
                <a:srgbClr val="232B3A"/>
              </a:buClr>
              <a:buSzPts val="1018"/>
              <a:buFont typeface="Arial"/>
              <a:buChar char="●"/>
            </a:pPr>
            <a:r>
              <a:rPr b="1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K-Means:</a:t>
            </a:r>
            <a:r>
              <a:rPr b="0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Sensitive; requires scaling mitigation.</a:t>
            </a:r>
            <a:endParaRPr b="0" sz="1018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1018"/>
              <a:buFont typeface="Arial"/>
              <a:buChar char="●"/>
            </a:pPr>
            <a:r>
              <a:rPr b="1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Hierarchical:</a:t>
            </a:r>
            <a:r>
              <a:rPr b="0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Less sensitive but still influenced.</a:t>
            </a:r>
            <a:endParaRPr b="0" sz="1018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1018"/>
              <a:buFont typeface="Arial"/>
              <a:buChar char="●"/>
            </a:pPr>
            <a:r>
              <a:rPr b="1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DBSCAN:</a:t>
            </a:r>
            <a:r>
              <a:rPr b="0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Naturally identifies outliers as noise.</a:t>
            </a:r>
            <a:endParaRPr b="0" sz="1018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Outliers present in 5-15% of features (Monetary/Frequency).</a:t>
            </a:r>
            <a:endParaRPr b="0" sz="925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132"/>
          <p:cNvSpPr/>
          <p:nvPr/>
        </p:nvSpPr>
        <p:spPr>
          <a:xfrm>
            <a:off x="5029200" y="3952875"/>
            <a:ext cx="3657600" cy="1619100"/>
          </a:xfrm>
          <a:prstGeom prst="roundRect">
            <a:avLst>
              <a:gd fmla="val 4705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132"/>
          <p:cNvSpPr/>
          <p:nvPr/>
        </p:nvSpPr>
        <p:spPr>
          <a:xfrm>
            <a:off x="5029200" y="3952875"/>
            <a:ext cx="95400" cy="1619100"/>
          </a:xfrm>
          <a:prstGeom prst="roundRect">
            <a:avLst>
              <a:gd fmla="val 50000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132"/>
          <p:cNvSpPr txBox="1"/>
          <p:nvPr/>
        </p:nvSpPr>
        <p:spPr>
          <a:xfrm>
            <a:off x="5314950" y="4095750"/>
            <a:ext cx="32385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EDA Strategic Conclusions</a:t>
            </a:r>
            <a:endParaRPr b="1" sz="148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rtl="0" algn="l">
              <a:spcBef>
                <a:spcPts val="600"/>
              </a:spcBef>
              <a:spcAft>
                <a:spcPts val="0"/>
              </a:spcAft>
              <a:buClr>
                <a:srgbClr val="232B3A"/>
              </a:buClr>
              <a:buSzPts val="925"/>
              <a:buFont typeface="Arial"/>
              <a:buChar char="●"/>
            </a:pPr>
            <a:r>
              <a:rPr b="1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Heterogeneous Base:</a:t>
            </a:r>
            <a:r>
              <a:rPr b="0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Clear RFM clustering.</a:t>
            </a:r>
            <a:endParaRPr b="0" sz="925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925"/>
              <a:buFont typeface="Arial"/>
              <a:buChar char="●"/>
            </a:pPr>
            <a:r>
              <a:rPr b="1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Skewed Distributions:</a:t>
            </a:r>
            <a:r>
              <a:rPr b="0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Transformation needed.</a:t>
            </a:r>
            <a:endParaRPr b="0" sz="925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925"/>
              <a:buFont typeface="Arial"/>
              <a:buChar char="●"/>
            </a:pPr>
            <a:r>
              <a:rPr b="1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Multidimensional:</a:t>
            </a:r>
            <a:r>
              <a:rPr b="0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Distinct behavioral aspects.</a:t>
            </a:r>
            <a:endParaRPr b="0" sz="925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925"/>
              <a:buFont typeface="Arial"/>
              <a:buChar char="●"/>
            </a:pPr>
            <a:r>
              <a:rPr b="1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Business Value:</a:t>
            </a:r>
            <a:r>
              <a:rPr b="0" lang="en-US" sz="925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High-value customers are genuine.</a:t>
            </a:r>
            <a:endParaRPr b="0" sz="925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6" name="Google Shape;966;p132"/>
          <p:cNvSpPr/>
          <p:nvPr/>
        </p:nvSpPr>
        <p:spPr>
          <a:xfrm>
            <a:off x="457200" y="5762625"/>
            <a:ext cx="8229600" cy="571500"/>
          </a:xfrm>
          <a:prstGeom prst="roundRect">
            <a:avLst>
              <a:gd fmla="val 13333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132"/>
          <p:cNvSpPr txBox="1"/>
          <p:nvPr/>
        </p:nvSpPr>
        <p:spPr>
          <a:xfrm>
            <a:off x="647700" y="5762625"/>
            <a:ext cx="7848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Strategic Impact: </a:t>
            </a:r>
            <a:r>
              <a:rPr b="0" lang="en-US" sz="925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These insights directly inform preprocessing and modeling choices for the final segmentation pipeline.</a:t>
            </a:r>
            <a:endParaRPr b="1" sz="925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3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133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133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PCA Interpretation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75" name="Google Shape;975;p133"/>
          <p:cNvSpPr/>
          <p:nvPr/>
        </p:nvSpPr>
        <p:spPr>
          <a:xfrm>
            <a:off x="457200" y="1047750"/>
            <a:ext cx="5143500" cy="3238500"/>
          </a:xfrm>
          <a:prstGeom prst="roundRect">
            <a:avLst>
              <a:gd fmla="val 235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133"/>
          <p:cNvPicPr preferRelativeResize="0"/>
          <p:nvPr/>
        </p:nvPicPr>
        <p:blipFill rotWithShape="1">
          <a:blip r:embed="rId4">
            <a:alphaModFix/>
          </a:blip>
          <a:srcRect b="0" l="6673" r="6664" t="0"/>
          <a:stretch/>
        </p:blipFill>
        <p:spPr>
          <a:xfrm>
            <a:off x="647700" y="1238250"/>
            <a:ext cx="4762500" cy="2857500"/>
          </a:xfrm>
          <a:prstGeom prst="roundRect">
            <a:avLst>
              <a:gd fmla="val 1333" name="adj"/>
            </a:avLst>
          </a:prstGeom>
          <a:noFill/>
          <a:ln>
            <a:noFill/>
          </a:ln>
        </p:spPr>
      </p:pic>
      <p:sp>
        <p:nvSpPr>
          <p:cNvPr id="977" name="Google Shape;977;p133"/>
          <p:cNvSpPr/>
          <p:nvPr/>
        </p:nvSpPr>
        <p:spPr>
          <a:xfrm>
            <a:off x="5791200" y="1047750"/>
            <a:ext cx="3086100" cy="3238500"/>
          </a:xfrm>
          <a:prstGeom prst="roundRect">
            <a:avLst>
              <a:gd fmla="val 2469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133"/>
          <p:cNvSpPr/>
          <p:nvPr/>
        </p:nvSpPr>
        <p:spPr>
          <a:xfrm>
            <a:off x="5791200" y="1047750"/>
            <a:ext cx="95400" cy="3238500"/>
          </a:xfrm>
          <a:prstGeom prst="roundRect">
            <a:avLst>
              <a:gd fmla="val 50000" name="adj"/>
            </a:avLst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133"/>
          <p:cNvSpPr txBox="1"/>
          <p:nvPr/>
        </p:nvSpPr>
        <p:spPr>
          <a:xfrm>
            <a:off x="5981700" y="1238250"/>
            <a:ext cx="27051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Key Components</a:t>
            </a:r>
            <a:endParaRPr b="1" sz="14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PC1 (~60%):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"Overall Value &amp; Engagement". Separates high-value, active users from low-value, inactive ones.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PC2 (~20%):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"Spending Profile". Distinguishes high-frequency buyers from large-transaction, infrequent ones.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PC3+:</a:t>
            </a:r>
            <a:r>
              <a:rPr lang="en-US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Capture nuances in behavioral diversity and purchasing patterns.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133"/>
          <p:cNvSpPr/>
          <p:nvPr/>
        </p:nvSpPr>
        <p:spPr>
          <a:xfrm>
            <a:off x="457200" y="4476750"/>
            <a:ext cx="8420100" cy="17145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133"/>
          <p:cNvSpPr/>
          <p:nvPr/>
        </p:nvSpPr>
        <p:spPr>
          <a:xfrm>
            <a:off x="457200" y="4476750"/>
            <a:ext cx="95400" cy="1714500"/>
          </a:xfrm>
          <a:prstGeom prst="roundRect">
            <a:avLst>
              <a:gd fmla="val 50000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133"/>
          <p:cNvSpPr txBox="1"/>
          <p:nvPr/>
        </p:nvSpPr>
        <p:spPr>
          <a:xfrm>
            <a:off x="742950" y="4667250"/>
            <a:ext cx="7848600" cy="1333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Analysis Conclusion</a:t>
            </a:r>
            <a:endParaRPr b="1" sz="14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750"/>
              </a:spcBef>
              <a:spcAft>
                <a:spcPts val="0"/>
              </a:spcAft>
              <a:buClr>
                <a:srgbClr val="232B3A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The first </a:t>
            </a:r>
            <a:r>
              <a:rPr b="1" lang="en-US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4-5 components</a:t>
            </a:r>
            <a:r>
              <a:rPr lang="en-US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together capture </a:t>
            </a:r>
            <a:r>
              <a:rPr b="1" lang="en-US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~85% of total variance</a:t>
            </a:r>
            <a:r>
              <a:rPr lang="en-US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, providing a highly efficient reduced dataset.</a:t>
            </a:r>
            <a:endParaRPr sz="12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600"/>
              </a:spcBef>
              <a:spcAft>
                <a:spcPts val="0"/>
              </a:spcAft>
              <a:buClr>
                <a:srgbClr val="232B3A"/>
              </a:buClr>
              <a:buSzPts val="1200"/>
              <a:buFont typeface="Arial"/>
              <a:buChar char="●"/>
            </a:pPr>
            <a:r>
              <a:rPr lang="en-US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This reduction is sufficient to maintain the integrity of original data patterns while enabling more robust and </a:t>
            </a:r>
            <a:r>
              <a:rPr b="1" lang="en-US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meaningful customer clustering</a:t>
            </a:r>
            <a:r>
              <a:rPr lang="en-US" sz="12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133"/>
          <p:cNvSpPr/>
          <p:nvPr/>
        </p:nvSpPr>
        <p:spPr>
          <a:xfrm>
            <a:off x="457200" y="6334125"/>
            <a:ext cx="8420100" cy="381000"/>
          </a:xfrm>
          <a:prstGeom prst="roundRect">
            <a:avLst>
              <a:gd fmla="val 2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133"/>
          <p:cNvSpPr txBox="1"/>
          <p:nvPr/>
        </p:nvSpPr>
        <p:spPr>
          <a:xfrm>
            <a:off x="647700" y="6334125"/>
            <a:ext cx="80391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Summary: </a:t>
            </a:r>
            <a:r>
              <a:rPr b="0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PCA enables effective segmentation by distilling complex behavioral data into distinct, interpretable dimensions.</a:t>
            </a:r>
            <a:endParaRPr b="1" sz="1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3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134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134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134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 K-Means: Finding Optimal k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992" name="Google Shape;992;p134"/>
          <p:cNvSpPr/>
          <p:nvPr/>
        </p:nvSpPr>
        <p:spPr>
          <a:xfrm>
            <a:off x="457200" y="1000125"/>
            <a:ext cx="4000500" cy="2286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134"/>
          <p:cNvSpPr/>
          <p:nvPr/>
        </p:nvSpPr>
        <p:spPr>
          <a:xfrm>
            <a:off x="457200" y="1000125"/>
            <a:ext cx="95400" cy="2286000"/>
          </a:xfrm>
          <a:prstGeom prst="roundRect">
            <a:avLst>
              <a:gd fmla="val 50000" name="adj"/>
            </a:avLst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134"/>
          <p:cNvSpPr txBox="1"/>
          <p:nvPr/>
        </p:nvSpPr>
        <p:spPr>
          <a:xfrm>
            <a:off x="742950" y="1143000"/>
            <a:ext cx="35244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Algorithm Intuition</a:t>
            </a:r>
            <a:endParaRPr b="1" sz="14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Clr>
                <a:srgbClr val="232B3A"/>
              </a:buClr>
              <a:buSzPts val="1000"/>
              <a:buFont typeface="Arial"/>
              <a:buChar char="●"/>
            </a:pP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Initialize: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Randomly place k cluster centers.</a:t>
            </a:r>
            <a:endParaRPr b="0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1000"/>
              <a:buFont typeface="Arial"/>
              <a:buChar char="●"/>
            </a:pP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Assign: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Map customers to nearest center.</a:t>
            </a:r>
            <a:endParaRPr b="0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1000"/>
              <a:buFont typeface="Arial"/>
              <a:buChar char="●"/>
            </a:pP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Update: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Recalculate centers as the mean.</a:t>
            </a:r>
            <a:endParaRPr b="0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1000"/>
              <a:buFont typeface="Arial"/>
              <a:buChar char="●"/>
            </a:pP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Repeat: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Iterate until convergence.</a:t>
            </a:r>
            <a:endParaRPr b="0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Objective: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Minimize within-cluster variance (Inertia).</a:t>
            </a:r>
            <a:endParaRPr b="0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134"/>
          <p:cNvSpPr/>
          <p:nvPr/>
        </p:nvSpPr>
        <p:spPr>
          <a:xfrm>
            <a:off x="4686300" y="1000125"/>
            <a:ext cx="4000500" cy="2286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134"/>
          <p:cNvSpPr/>
          <p:nvPr/>
        </p:nvSpPr>
        <p:spPr>
          <a:xfrm>
            <a:off x="4686300" y="1000125"/>
            <a:ext cx="95400" cy="2286000"/>
          </a:xfrm>
          <a:prstGeom prst="roundRect">
            <a:avLst>
              <a:gd fmla="val 50000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134"/>
          <p:cNvSpPr txBox="1"/>
          <p:nvPr/>
        </p:nvSpPr>
        <p:spPr>
          <a:xfrm>
            <a:off x="4972050" y="1143000"/>
            <a:ext cx="35244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Determining k</a:t>
            </a:r>
            <a:endParaRPr b="1" sz="14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600"/>
              </a:spcBef>
              <a:spcAft>
                <a:spcPts val="0"/>
              </a:spcAft>
              <a:buClr>
                <a:srgbClr val="232B3A"/>
              </a:buClr>
              <a:buSzPts val="1000"/>
              <a:buFont typeface="Arial"/>
              <a:buChar char="●"/>
            </a:pP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Elbow Method: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Identifies the point where inertia decrease slows significantly ("elbow").</a:t>
            </a:r>
            <a:endParaRPr b="0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300"/>
              </a:spcBef>
              <a:spcAft>
                <a:spcPts val="0"/>
              </a:spcAft>
              <a:buClr>
                <a:srgbClr val="232B3A"/>
              </a:buClr>
              <a:buSzPts val="1000"/>
              <a:buFont typeface="Arial"/>
              <a:buChar char="●"/>
            </a:pP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Silhouette Score: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Measures cluster cohesion and separation (Range: -1 to 1).</a:t>
            </a:r>
            <a:endParaRPr b="0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A peak score of </a:t>
            </a: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0.404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at </a:t>
            </a:r>
            <a:r>
              <a:rPr b="1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k=3</a:t>
            </a:r>
            <a:r>
              <a:rPr b="0" lang="en-US"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suggests the most stable structure.</a:t>
            </a:r>
            <a:endParaRPr b="0" sz="1000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134"/>
          <p:cNvSpPr/>
          <p:nvPr/>
        </p:nvSpPr>
        <p:spPr>
          <a:xfrm>
            <a:off x="457200" y="3476625"/>
            <a:ext cx="8229600" cy="26670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9" name="Google Shape;999;p134"/>
          <p:cNvPicPr preferRelativeResize="0"/>
          <p:nvPr/>
        </p:nvPicPr>
        <p:blipFill rotWithShape="1">
          <a:blip r:embed="rId3">
            <a:alphaModFix/>
          </a:blip>
          <a:srcRect b="1756" l="0" r="0" t="1756"/>
          <a:stretch/>
        </p:blipFill>
        <p:spPr>
          <a:xfrm>
            <a:off x="647700" y="3476625"/>
            <a:ext cx="7848600" cy="2667000"/>
          </a:xfrm>
          <a:prstGeom prst="roundRect">
            <a:avLst>
              <a:gd fmla="val 2857" name="adj"/>
            </a:avLst>
          </a:prstGeom>
          <a:noFill/>
          <a:ln>
            <a:noFill/>
          </a:ln>
        </p:spPr>
      </p:pic>
      <p:sp>
        <p:nvSpPr>
          <p:cNvPr id="1000" name="Google Shape;1000;p134"/>
          <p:cNvSpPr/>
          <p:nvPr/>
        </p:nvSpPr>
        <p:spPr>
          <a:xfrm>
            <a:off x="457200" y="6334125"/>
            <a:ext cx="8229600" cy="381000"/>
          </a:xfrm>
          <a:prstGeom prst="roundRect">
            <a:avLst>
              <a:gd fmla="val 2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134"/>
          <p:cNvSpPr txBox="1"/>
          <p:nvPr/>
        </p:nvSpPr>
        <p:spPr>
          <a:xfrm>
            <a:off x="647700" y="6334125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Strategic Selection: </a:t>
            </a:r>
            <a:r>
              <a:rPr b="0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k=3 is selected as it balances statistical fit (Silhouette peak) with practical business interpretability.</a:t>
            </a:r>
            <a:endParaRPr b="1" sz="1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35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135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8" name="Google Shape;1008;p135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Overall Summary: K-Means Clustering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009" name="Google Shape;1009;p135"/>
          <p:cNvGrpSpPr/>
          <p:nvPr/>
        </p:nvGrpSpPr>
        <p:grpSpPr>
          <a:xfrm>
            <a:off x="457200" y="1000125"/>
            <a:ext cx="8229600" cy="952500"/>
            <a:chOff x="457200" y="1000125"/>
            <a:chExt cx="8229600" cy="952500"/>
          </a:xfrm>
        </p:grpSpPr>
        <p:sp>
          <p:nvSpPr>
            <p:cNvPr id="1010" name="Google Shape;1010;p135"/>
            <p:cNvSpPr/>
            <p:nvPr/>
          </p:nvSpPr>
          <p:spPr>
            <a:xfrm>
              <a:off x="457200" y="1000125"/>
              <a:ext cx="82296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135"/>
            <p:cNvSpPr/>
            <p:nvPr/>
          </p:nvSpPr>
          <p:spPr>
            <a:xfrm>
              <a:off x="457200" y="1000125"/>
              <a:ext cx="95400" cy="9525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135"/>
            <p:cNvSpPr txBox="1"/>
            <p:nvPr/>
          </p:nvSpPr>
          <p:spPr>
            <a:xfrm>
              <a:off x="742950" y="1095375"/>
              <a:ext cx="7753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1. Objective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Identify natural customer segments based on purchasing behavior (RFM and engineered features) to drive targeted business strategies.</a:t>
              </a:r>
              <a:endParaRPr b="0" sz="11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3" name="Google Shape;1013;p135"/>
          <p:cNvGrpSpPr/>
          <p:nvPr/>
        </p:nvGrpSpPr>
        <p:grpSpPr>
          <a:xfrm>
            <a:off x="457200" y="2095500"/>
            <a:ext cx="8229750" cy="2286000"/>
            <a:chOff x="457200" y="2095500"/>
            <a:chExt cx="8229750" cy="2286000"/>
          </a:xfrm>
        </p:grpSpPr>
        <p:sp>
          <p:nvSpPr>
            <p:cNvPr id="1014" name="Google Shape;1014;p135"/>
            <p:cNvSpPr/>
            <p:nvPr/>
          </p:nvSpPr>
          <p:spPr>
            <a:xfrm>
              <a:off x="457200" y="2095500"/>
              <a:ext cx="40197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135"/>
            <p:cNvSpPr/>
            <p:nvPr/>
          </p:nvSpPr>
          <p:spPr>
            <a:xfrm>
              <a:off x="457200" y="2095500"/>
              <a:ext cx="95400" cy="22860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135"/>
            <p:cNvSpPr txBox="1"/>
            <p:nvPr/>
          </p:nvSpPr>
          <p:spPr>
            <a:xfrm>
              <a:off x="742950" y="2238375"/>
              <a:ext cx="35433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2. Data Preparation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232B3A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Feature Engineering:</a:t>
              </a: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RFM and behavioral metrics.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232B3A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Transformation:</a:t>
              </a: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Log-transformed skewed features.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0"/>
                </a:spcAft>
                <a:buClr>
                  <a:srgbClr val="232B3A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Scaling:</a:t>
              </a: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Standardized for equal weight.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375"/>
                </a:spcAft>
                <a:buClr>
                  <a:srgbClr val="232B3A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PCA:</a:t>
              </a: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Reduced to 4 components (98% variance).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135"/>
            <p:cNvSpPr/>
            <p:nvPr/>
          </p:nvSpPr>
          <p:spPr>
            <a:xfrm>
              <a:off x="4667250" y="2095500"/>
              <a:ext cx="40197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135"/>
            <p:cNvSpPr/>
            <p:nvPr/>
          </p:nvSpPr>
          <p:spPr>
            <a:xfrm>
              <a:off x="4667250" y="2095500"/>
              <a:ext cx="95400" cy="22860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135"/>
            <p:cNvSpPr txBox="1"/>
            <p:nvPr/>
          </p:nvSpPr>
          <p:spPr>
            <a:xfrm>
              <a:off x="4953000" y="2238375"/>
              <a:ext cx="35433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3. Determining k=3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Used 'Elbow Method' and 'Silhouette Score' to find the statistical balance.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232B3A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Optimal Choice:</a:t>
              </a: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k=3 selected.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75"/>
                </a:spcBef>
                <a:spcAft>
                  <a:spcPts val="375"/>
                </a:spcAft>
                <a:buClr>
                  <a:srgbClr val="232B3A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Reasoning:</a:t>
              </a: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Balanced statistical fit with practical business interpretability.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0" name="Google Shape;1020;p135"/>
          <p:cNvGrpSpPr/>
          <p:nvPr/>
        </p:nvGrpSpPr>
        <p:grpSpPr>
          <a:xfrm>
            <a:off x="457200" y="4524375"/>
            <a:ext cx="8229600" cy="1619100"/>
            <a:chOff x="457200" y="4524375"/>
            <a:chExt cx="8229600" cy="1619100"/>
          </a:xfrm>
        </p:grpSpPr>
        <p:sp>
          <p:nvSpPr>
            <p:cNvPr id="1021" name="Google Shape;1021;p135"/>
            <p:cNvSpPr/>
            <p:nvPr/>
          </p:nvSpPr>
          <p:spPr>
            <a:xfrm>
              <a:off x="457200" y="4524375"/>
              <a:ext cx="8229600" cy="1619100"/>
            </a:xfrm>
            <a:prstGeom prst="roundRect">
              <a:avLst>
                <a:gd fmla="val 470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135"/>
            <p:cNvSpPr/>
            <p:nvPr/>
          </p:nvSpPr>
          <p:spPr>
            <a:xfrm>
              <a:off x="457200" y="4524375"/>
              <a:ext cx="95400" cy="16191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135"/>
            <p:cNvSpPr txBox="1"/>
            <p:nvPr/>
          </p:nvSpPr>
          <p:spPr>
            <a:xfrm>
              <a:off x="742950" y="4667250"/>
              <a:ext cx="7753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4. Clustering Results &amp; Business Strategy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Segments:</a:t>
              </a:r>
              <a:r>
                <a:rPr lang="en-US" sz="105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Cluster 0 (Lost Customers), Cluster 1 (At-Risk VIPs), Cluster 2 (Champions).</a:t>
              </a:r>
              <a:endParaRPr sz="105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Strategic Value:</a:t>
              </a:r>
              <a:r>
                <a:rPr lang="en-US" sz="105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Enables tailored marketing (retention, loyalty, re-engagement), optimized resource allocation, and deeper business insights.</a:t>
              </a:r>
              <a:endParaRPr sz="105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4" name="Google Shape;1024;p135"/>
          <p:cNvGrpSpPr/>
          <p:nvPr/>
        </p:nvGrpSpPr>
        <p:grpSpPr>
          <a:xfrm>
            <a:off x="457200" y="6286500"/>
            <a:ext cx="8229600" cy="381000"/>
            <a:chOff x="457200" y="6286500"/>
            <a:chExt cx="8229600" cy="381000"/>
          </a:xfrm>
        </p:grpSpPr>
        <p:sp>
          <p:nvSpPr>
            <p:cNvPr id="1025" name="Google Shape;1025;p135"/>
            <p:cNvSpPr/>
            <p:nvPr/>
          </p:nvSpPr>
          <p:spPr>
            <a:xfrm>
              <a:off x="457200" y="6286500"/>
              <a:ext cx="8229600" cy="381000"/>
            </a:xfrm>
            <a:prstGeom prst="roundRect">
              <a:avLst>
                <a:gd fmla="val 20000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135"/>
            <p:cNvSpPr txBox="1"/>
            <p:nvPr/>
          </p:nvSpPr>
          <p:spPr>
            <a:xfrm>
              <a:off x="647700" y="6286500"/>
              <a:ext cx="78486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13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136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136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136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Hierarchical Clustering: Dendrogram Analysis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34" name="Google Shape;1034;p136"/>
          <p:cNvSpPr/>
          <p:nvPr/>
        </p:nvSpPr>
        <p:spPr>
          <a:xfrm>
            <a:off x="457200" y="1047750"/>
            <a:ext cx="8229600" cy="342900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5" name="Google Shape;1035;p136"/>
          <p:cNvPicPr preferRelativeResize="0"/>
          <p:nvPr/>
        </p:nvPicPr>
        <p:blipFill rotWithShape="1">
          <a:blip r:embed="rId3">
            <a:alphaModFix/>
          </a:blip>
          <a:srcRect b="1162" l="0" r="0" t="1172"/>
          <a:stretch/>
        </p:blipFill>
        <p:spPr>
          <a:xfrm>
            <a:off x="647700" y="1143000"/>
            <a:ext cx="7848600" cy="3238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6" name="Google Shape;1036;p136"/>
          <p:cNvSpPr/>
          <p:nvPr/>
        </p:nvSpPr>
        <p:spPr>
          <a:xfrm>
            <a:off x="457200" y="4667250"/>
            <a:ext cx="4000500" cy="14289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136"/>
          <p:cNvSpPr/>
          <p:nvPr/>
        </p:nvSpPr>
        <p:spPr>
          <a:xfrm>
            <a:off x="457200" y="4667250"/>
            <a:ext cx="95400" cy="1428900"/>
          </a:xfrm>
          <a:prstGeom prst="roundRect">
            <a:avLst>
              <a:gd fmla="val 50000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8" name="Google Shape;1038;p136"/>
          <p:cNvSpPr txBox="1"/>
          <p:nvPr/>
        </p:nvSpPr>
        <p:spPr>
          <a:xfrm>
            <a:off x="742950" y="4762500"/>
            <a:ext cx="3524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Linkage &amp; Structure</a:t>
            </a:r>
            <a:endParaRPr b="1" sz="148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750"/>
              </a:spcBef>
              <a:spcAft>
                <a:spcPts val="0"/>
              </a:spcAft>
              <a:buClr>
                <a:srgbClr val="232B3A"/>
              </a:buClr>
              <a:buSzPts val="1018"/>
              <a:buFont typeface="Arial"/>
              <a:buChar char="●"/>
            </a:pPr>
            <a:r>
              <a:rPr b="1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Single Linkage:</a:t>
            </a:r>
            <a:r>
              <a:rPr b="0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Groups based on the minimum distance between observations in different clusters.</a:t>
            </a:r>
            <a:endParaRPr b="0" sz="1018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450"/>
              </a:spcBef>
              <a:spcAft>
                <a:spcPts val="450"/>
              </a:spcAft>
              <a:buClr>
                <a:srgbClr val="232B3A"/>
              </a:buClr>
              <a:buSzPts val="1018"/>
              <a:buFont typeface="Arial"/>
              <a:buChar char="●"/>
            </a:pPr>
            <a:r>
              <a:rPr b="1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Dissimilarity:</a:t>
            </a:r>
            <a:r>
              <a:rPr b="0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The Y-axis represents the distance (dissimilarity) at which merges occur.</a:t>
            </a:r>
            <a:endParaRPr b="0" sz="1018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36"/>
          <p:cNvSpPr/>
          <p:nvPr/>
        </p:nvSpPr>
        <p:spPr>
          <a:xfrm>
            <a:off x="4686300" y="4667250"/>
            <a:ext cx="4000500" cy="1428900"/>
          </a:xfrm>
          <a:prstGeom prst="roundRect">
            <a:avLst>
              <a:gd fmla="val 5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0" name="Google Shape;1040;p136"/>
          <p:cNvSpPr/>
          <p:nvPr/>
        </p:nvSpPr>
        <p:spPr>
          <a:xfrm>
            <a:off x="4686300" y="4667250"/>
            <a:ext cx="95400" cy="1428900"/>
          </a:xfrm>
          <a:prstGeom prst="roundRect">
            <a:avLst>
              <a:gd fmla="val 50000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136"/>
          <p:cNvSpPr txBox="1"/>
          <p:nvPr/>
        </p:nvSpPr>
        <p:spPr>
          <a:xfrm>
            <a:off x="4972050" y="4762500"/>
            <a:ext cx="3524400" cy="12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Optimal Cut Point</a:t>
            </a:r>
            <a:endParaRPr b="1" sz="148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750"/>
              </a:spcBef>
              <a:spcAft>
                <a:spcPts val="0"/>
              </a:spcAft>
              <a:buClr>
                <a:srgbClr val="232B3A"/>
              </a:buClr>
              <a:buSzPts val="1018"/>
              <a:buFont typeface="Arial"/>
              <a:buChar char="●"/>
            </a:pPr>
            <a:r>
              <a:rPr b="1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Cluster Definition:</a:t>
            </a:r>
            <a:r>
              <a:rPr b="0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Cutting the tree at distance ~2.0 identifies primary segments.</a:t>
            </a:r>
            <a:endParaRPr b="0" sz="1018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450"/>
              </a:spcBef>
              <a:spcAft>
                <a:spcPts val="450"/>
              </a:spcAft>
              <a:buClr>
                <a:srgbClr val="232B3A"/>
              </a:buClr>
              <a:buSzPts val="1018"/>
              <a:buFont typeface="Arial"/>
              <a:buChar char="●"/>
            </a:pPr>
            <a:r>
              <a:rPr b="1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Outcome:</a:t>
            </a:r>
            <a:r>
              <a:rPr b="0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 Reveals a nested hierarchy where samples (</a:t>
            </a:r>
            <a:r>
              <a:rPr lang="en-US" sz="1018">
                <a:solidFill>
                  <a:srgbClr val="232B3A"/>
                </a:solidFill>
              </a:rPr>
              <a:t>2)</a:t>
            </a:r>
            <a:r>
              <a:rPr b="0" lang="en-US" sz="1018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rPr>
              <a:t>, (2), and 8 form a distinct, more distant group.</a:t>
            </a:r>
            <a:endParaRPr b="0" sz="1018">
              <a:solidFill>
                <a:srgbClr val="232B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136"/>
          <p:cNvSpPr/>
          <p:nvPr/>
        </p:nvSpPr>
        <p:spPr>
          <a:xfrm>
            <a:off x="457200" y="6286500"/>
            <a:ext cx="8229600" cy="381000"/>
          </a:xfrm>
          <a:prstGeom prst="roundRect">
            <a:avLst>
              <a:gd fmla="val 2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3" name="Google Shape;1043;p136"/>
          <p:cNvSpPr txBox="1"/>
          <p:nvPr/>
        </p:nvSpPr>
        <p:spPr>
          <a:xfrm>
            <a:off x="457200" y="6286500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1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Strategic Insight: </a:t>
            </a:r>
            <a:r>
              <a:rPr b="0" lang="en-US" sz="1018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dendrogram confirms the distinct separation of outliers from the main dense cluster.</a:t>
            </a:r>
            <a:endParaRPr b="1" sz="1018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37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9" name="Google Shape;1049;p137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137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Understanding Dendrograms in Clustering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051" name="Google Shape;1051;p137"/>
          <p:cNvGrpSpPr/>
          <p:nvPr/>
        </p:nvGrpSpPr>
        <p:grpSpPr>
          <a:xfrm>
            <a:off x="457200" y="1000125"/>
            <a:ext cx="8229600" cy="857400"/>
            <a:chOff x="457200" y="1000125"/>
            <a:chExt cx="8229600" cy="857400"/>
          </a:xfrm>
        </p:grpSpPr>
        <p:sp>
          <p:nvSpPr>
            <p:cNvPr id="1052" name="Google Shape;1052;p137"/>
            <p:cNvSpPr/>
            <p:nvPr/>
          </p:nvSpPr>
          <p:spPr>
            <a:xfrm>
              <a:off x="457200" y="1000125"/>
              <a:ext cx="8229600" cy="857400"/>
            </a:xfrm>
            <a:prstGeom prst="roundRect">
              <a:avLst>
                <a:gd fmla="val 888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137"/>
            <p:cNvSpPr/>
            <p:nvPr/>
          </p:nvSpPr>
          <p:spPr>
            <a:xfrm>
              <a:off x="457200" y="1000125"/>
              <a:ext cx="95400" cy="8574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137"/>
            <p:cNvSpPr txBox="1"/>
            <p:nvPr/>
          </p:nvSpPr>
          <p:spPr>
            <a:xfrm>
              <a:off x="742950" y="1000125"/>
              <a:ext cx="77535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Overall Summary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A </a:t>
              </a:r>
              <a:r>
                <a:rPr b="1"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dendrogram</a:t>
              </a:r>
              <a:r>
                <a:rPr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 is a tree-like diagram that records sequences of merges or splits in hierarchical clustering, visually representing cluster arrangements.</a:t>
              </a:r>
              <a:endParaRPr sz="11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5" name="Google Shape;1055;p137"/>
          <p:cNvGrpSpPr/>
          <p:nvPr/>
        </p:nvGrpSpPr>
        <p:grpSpPr>
          <a:xfrm>
            <a:off x="457200" y="2000250"/>
            <a:ext cx="8229750" cy="3095550"/>
            <a:chOff x="457200" y="2000250"/>
            <a:chExt cx="8229750" cy="3095550"/>
          </a:xfrm>
        </p:grpSpPr>
        <p:sp>
          <p:nvSpPr>
            <p:cNvPr id="1056" name="Google Shape;1056;p137"/>
            <p:cNvSpPr/>
            <p:nvPr/>
          </p:nvSpPr>
          <p:spPr>
            <a:xfrm>
              <a:off x="457200" y="2000250"/>
              <a:ext cx="40197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137"/>
            <p:cNvSpPr/>
            <p:nvPr/>
          </p:nvSpPr>
          <p:spPr>
            <a:xfrm>
              <a:off x="457200" y="2000250"/>
              <a:ext cx="95400" cy="14763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137"/>
            <p:cNvSpPr txBox="1"/>
            <p:nvPr/>
          </p:nvSpPr>
          <p:spPr>
            <a:xfrm>
              <a:off x="742950" y="2095500"/>
              <a:ext cx="35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1. Hierarchical Structure</a:t>
              </a:r>
              <a:endParaRPr b="1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Illustrates relationships between data points and clusters. Leaf nodes represent individual data points (e.g., customers); branches show merges into larger clusters.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37"/>
            <p:cNvSpPr/>
            <p:nvPr/>
          </p:nvSpPr>
          <p:spPr>
            <a:xfrm>
              <a:off x="4667250" y="2000250"/>
              <a:ext cx="40197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137"/>
            <p:cNvSpPr/>
            <p:nvPr/>
          </p:nvSpPr>
          <p:spPr>
            <a:xfrm>
              <a:off x="4667250" y="2000250"/>
              <a:ext cx="95400" cy="14763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137"/>
            <p:cNvSpPr txBox="1"/>
            <p:nvPr/>
          </p:nvSpPr>
          <p:spPr>
            <a:xfrm>
              <a:off x="4953000" y="2095500"/>
              <a:ext cx="35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2. Distance &amp; Dissimilarity</a:t>
              </a:r>
              <a:endParaRPr b="1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The vertical axis represents merging distance. Shorter lines indicate similarity; longer lines suggest clusters are more dissimilar and merge later.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37"/>
            <p:cNvSpPr/>
            <p:nvPr/>
          </p:nvSpPr>
          <p:spPr>
            <a:xfrm>
              <a:off x="457200" y="3619500"/>
              <a:ext cx="40197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137"/>
            <p:cNvSpPr/>
            <p:nvPr/>
          </p:nvSpPr>
          <p:spPr>
            <a:xfrm>
              <a:off x="457200" y="3619500"/>
              <a:ext cx="95400" cy="14763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137"/>
            <p:cNvSpPr txBox="1"/>
            <p:nvPr/>
          </p:nvSpPr>
          <p:spPr>
            <a:xfrm>
              <a:off x="742950" y="3714750"/>
              <a:ext cx="35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3. Cluster Formation</a:t>
              </a:r>
              <a:endParaRPr b="1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In agglomerative clustering, every point starts as its own cluster. The diagram shows how they are progressively grouped by similarity.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37"/>
            <p:cNvSpPr/>
            <p:nvPr/>
          </p:nvSpPr>
          <p:spPr>
            <a:xfrm>
              <a:off x="4667250" y="3619500"/>
              <a:ext cx="4019700" cy="1476300"/>
            </a:xfrm>
            <a:prstGeom prst="roundRect">
              <a:avLst>
                <a:gd fmla="val 516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137"/>
            <p:cNvSpPr/>
            <p:nvPr/>
          </p:nvSpPr>
          <p:spPr>
            <a:xfrm>
              <a:off x="4667250" y="3619500"/>
              <a:ext cx="95400" cy="14763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137"/>
            <p:cNvSpPr txBox="1"/>
            <p:nvPr/>
          </p:nvSpPr>
          <p:spPr>
            <a:xfrm>
              <a:off x="4953000" y="3714750"/>
              <a:ext cx="35433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4. Determining Clusters (k)</a:t>
              </a:r>
              <a:endParaRPr b="1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By 'cutting' the tree horizontally, you define 'k'. Large gaps between merges often identify the most natural groupings in the dataset.</a:t>
              </a:r>
              <a:endParaRPr sz="10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8" name="Google Shape;1068;p137"/>
          <p:cNvGrpSpPr/>
          <p:nvPr/>
        </p:nvGrpSpPr>
        <p:grpSpPr>
          <a:xfrm>
            <a:off x="457200" y="5238750"/>
            <a:ext cx="8229600" cy="952500"/>
            <a:chOff x="457200" y="5238750"/>
            <a:chExt cx="8229600" cy="952500"/>
          </a:xfrm>
        </p:grpSpPr>
        <p:sp>
          <p:nvSpPr>
            <p:cNvPr id="1069" name="Google Shape;1069;p137"/>
            <p:cNvSpPr/>
            <p:nvPr/>
          </p:nvSpPr>
          <p:spPr>
            <a:xfrm>
              <a:off x="457200" y="5238750"/>
              <a:ext cx="8229600" cy="9525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137"/>
            <p:cNvSpPr/>
            <p:nvPr/>
          </p:nvSpPr>
          <p:spPr>
            <a:xfrm>
              <a:off x="457200" y="5238750"/>
              <a:ext cx="95400" cy="9525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137"/>
            <p:cNvSpPr txBox="1"/>
            <p:nvPr/>
          </p:nvSpPr>
          <p:spPr>
            <a:xfrm>
              <a:off x="742950" y="5238750"/>
              <a:ext cx="7753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Customer Segmentation Context</a:t>
              </a:r>
              <a:endParaRPr b="1" sz="13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232B3A"/>
                  </a:solidFill>
                  <a:latin typeface="Arial"/>
                  <a:ea typeface="Arial"/>
                  <a:cs typeface="Arial"/>
                  <a:sym typeface="Arial"/>
                </a:rPr>
                <a:t>Displays customer groupings based on RFM and behavior. Validates the choice of 'k' by revealing natural segment structures in your customer data.</a:t>
              </a:r>
              <a:endParaRPr sz="1100">
                <a:solidFill>
                  <a:srgbClr val="232B3A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2" name="Google Shape;1072;p137"/>
          <p:cNvSpPr/>
          <p:nvPr/>
        </p:nvSpPr>
        <p:spPr>
          <a:xfrm>
            <a:off x="457200" y="6334125"/>
            <a:ext cx="8229600" cy="381000"/>
          </a:xfrm>
          <a:prstGeom prst="roundRect">
            <a:avLst>
              <a:gd fmla="val 2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3" name="Google Shape;1073;p137"/>
          <p:cNvSpPr txBox="1"/>
          <p:nvPr/>
        </p:nvSpPr>
        <p:spPr>
          <a:xfrm>
            <a:off x="457200" y="6334125"/>
            <a:ext cx="8229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Strategic Tool: </a:t>
            </a:r>
            <a:r>
              <a:rPr b="0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Visualizing nested hierarchies to optimize business logic for customer groups.</a:t>
            </a:r>
            <a:endParaRPr b="1" sz="1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138"/>
          <p:cNvSpPr txBox="1"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DBSCAN Clustering: Density-Based Approach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79" name="Google Shape;1079;p138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0" name="Google Shape;1080;p138"/>
          <p:cNvGrpSpPr/>
          <p:nvPr/>
        </p:nvGrpSpPr>
        <p:grpSpPr>
          <a:xfrm>
            <a:off x="5124300" y="1143000"/>
            <a:ext cx="4019700" cy="2286000"/>
            <a:chOff x="457200" y="1047750"/>
            <a:chExt cx="4019700" cy="2286000"/>
          </a:xfrm>
        </p:grpSpPr>
        <p:sp>
          <p:nvSpPr>
            <p:cNvPr id="1081" name="Google Shape;1081;p138"/>
            <p:cNvSpPr/>
            <p:nvPr/>
          </p:nvSpPr>
          <p:spPr>
            <a:xfrm>
              <a:off x="457200" y="1047750"/>
              <a:ext cx="40197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138"/>
            <p:cNvSpPr/>
            <p:nvPr/>
          </p:nvSpPr>
          <p:spPr>
            <a:xfrm>
              <a:off x="457200" y="1047750"/>
              <a:ext cx="95400" cy="22860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138"/>
            <p:cNvSpPr txBox="1"/>
            <p:nvPr/>
          </p:nvSpPr>
          <p:spPr>
            <a:xfrm>
              <a:off x="742950" y="1143000"/>
              <a:ext cx="3543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DBSCAN Intuition</a:t>
              </a:r>
              <a:endParaRPr b="1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9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Identifies clusters based on point density rather than fixed centroids or hierarchies.</a:t>
              </a:r>
              <a:endParaRPr b="0" sz="9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F1F1F"/>
                </a:buClr>
                <a:buSzPts val="900"/>
                <a:buFont typeface="Arial"/>
                <a:buChar char="●"/>
              </a:pPr>
              <a:r>
                <a:rPr b="1"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Density-Based: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Identifies clusters based on the density of data points.</a:t>
              </a:r>
              <a:endParaRPr sz="9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900"/>
                <a:buFont typeface="Arial"/>
                <a:buChar char="●"/>
              </a:pPr>
              <a:r>
                <a:rPr b="1"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Core Points: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Points with at least 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min_samples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neighbors within a distance 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eps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.</a:t>
              </a:r>
              <a:endParaRPr sz="9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900"/>
                <a:buFont typeface="Arial"/>
                <a:buChar char="●"/>
              </a:pPr>
              <a:r>
                <a:rPr b="1"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Border Points: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Points within 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  <a:latin typeface="Roboto Mono"/>
                  <a:ea typeface="Roboto Mono"/>
                  <a:cs typeface="Roboto Mono"/>
                  <a:sym typeface="Roboto Mono"/>
                </a:rPr>
                <a:t>eps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of a core point but not core themselves.</a:t>
              </a:r>
              <a:endParaRPr sz="9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900"/>
                <a:buFont typeface="Arial"/>
                <a:buChar char="●"/>
              </a:pPr>
              <a:r>
                <a:rPr b="1"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Noise Points: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Points that are neither core nor border points (identified as outliers).</a:t>
              </a:r>
              <a:endParaRPr sz="9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900"/>
                <a:buFont typeface="Arial"/>
                <a:buChar char="●"/>
              </a:pPr>
              <a:r>
                <a:rPr b="1"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Advantages: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Finds arbitrary-shaped clusters, naturally identifies outliers.</a:t>
              </a:r>
              <a:endParaRPr sz="9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0" lvl="0" marL="457200" rtl="0" algn="l">
                <a:spcBef>
                  <a:spcPts val="600"/>
                </a:spcBef>
                <a:spcAft>
                  <a:spcPts val="450"/>
                </a:spcAft>
                <a:buNone/>
              </a:pPr>
              <a:r>
                <a:t/>
              </a:r>
              <a:endParaRPr b="1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4" name="Google Shape;1084;p138"/>
          <p:cNvGrpSpPr/>
          <p:nvPr/>
        </p:nvGrpSpPr>
        <p:grpSpPr>
          <a:xfrm>
            <a:off x="5124300" y="3619482"/>
            <a:ext cx="4019700" cy="2199361"/>
            <a:chOff x="4667250" y="1047750"/>
            <a:chExt cx="4019700" cy="2286000"/>
          </a:xfrm>
        </p:grpSpPr>
        <p:sp>
          <p:nvSpPr>
            <p:cNvPr id="1085" name="Google Shape;1085;p138"/>
            <p:cNvSpPr/>
            <p:nvPr/>
          </p:nvSpPr>
          <p:spPr>
            <a:xfrm>
              <a:off x="4667250" y="1047750"/>
              <a:ext cx="40197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138"/>
            <p:cNvSpPr/>
            <p:nvPr/>
          </p:nvSpPr>
          <p:spPr>
            <a:xfrm>
              <a:off x="4667250" y="1047750"/>
              <a:ext cx="95400" cy="22860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138"/>
            <p:cNvSpPr txBox="1"/>
            <p:nvPr/>
          </p:nvSpPr>
          <p:spPr>
            <a:xfrm>
              <a:off x="4953000" y="1143000"/>
              <a:ext cx="35433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Why DBSCAN was Rejected</a:t>
              </a:r>
              <a:endParaRPr b="1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1F1F1F"/>
                </a:buClr>
                <a:buSzPts val="900"/>
                <a:buFont typeface="Arial"/>
                <a:buChar char="●"/>
              </a:pPr>
              <a:r>
                <a:rPr b="1"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Poor Performance Metrics: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Achieved significantly lower (or negative) evaluation scores (e.g., Silhouette Score) compared to K-Means and Hierarchical Clustering.</a:t>
              </a:r>
              <a:endParaRPr sz="9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900"/>
                <a:buFont typeface="Arial"/>
                <a:buChar char="●"/>
              </a:pPr>
              <a:r>
                <a:rPr b="1"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Unmanageable Clusters: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Parameter tuning often resulted in a large number of very small clusters (e.g., 14 clusters) or two dominant clusters with many tiny ones, making interpretation and business action difficult.</a:t>
              </a:r>
              <a:endParaRPr sz="9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-28575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F1F1F"/>
                </a:buClr>
                <a:buSzPts val="900"/>
                <a:buFont typeface="Arial"/>
                <a:buChar char="●"/>
              </a:pPr>
              <a:r>
                <a:rPr b="1"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Mismatched Goals:</a:t>
              </a:r>
              <a:r>
                <a:rPr lang="en-US" sz="900">
                  <a:solidFill>
                    <a:srgbClr val="1F1F1F"/>
                  </a:solidFill>
                  <a:highlight>
                    <a:srgbClr val="FFFFFF"/>
                  </a:highlight>
                </a:rPr>
                <a:t> Our objective was to find a small, actionable number of customer segments (like the 3 distinct segments from K-Means) for targeted marketing, which DBSCAN did not effectively provide in this case.</a:t>
              </a:r>
              <a:endParaRPr sz="900">
                <a:solidFill>
                  <a:srgbClr val="1F1F1F"/>
                </a:solidFill>
                <a:highlight>
                  <a:srgbClr val="FFFFFF"/>
                </a:highlight>
              </a:endParaRPr>
            </a:p>
            <a:p>
              <a:pPr indent="0" lvl="0" marL="457200" rtl="0" algn="l"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t/>
              </a:r>
              <a:endParaRPr b="1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8" name="Google Shape;1088;p138"/>
          <p:cNvSpPr/>
          <p:nvPr/>
        </p:nvSpPr>
        <p:spPr>
          <a:xfrm>
            <a:off x="457200" y="5905500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138"/>
          <p:cNvSpPr txBox="1"/>
          <p:nvPr/>
        </p:nvSpPr>
        <p:spPr>
          <a:xfrm>
            <a:off x="647700" y="5905500"/>
            <a:ext cx="78486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Strategic Insight:</a:t>
            </a:r>
            <a:endParaRPr b="1" sz="11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DBSCAN effectively isolates noise and finds arbitrary shapes, but it fragmented the retail base into 14 clusters with 13.1% noise. K-Means with k=3 was chosen for its superior business utility and interpretability.</a:t>
            </a:r>
            <a:endParaRPr b="0" sz="1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0" name="Google Shape;1090;p138" title="dbsc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388637"/>
            <a:ext cx="5124299" cy="40807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13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139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6" name="Google Shape;1096;p139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39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Clustering Method Comparison &amp; Selection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098" name="Google Shape;1098;p139"/>
          <p:cNvSpPr/>
          <p:nvPr/>
        </p:nvSpPr>
        <p:spPr>
          <a:xfrm>
            <a:off x="914400" y="1047750"/>
            <a:ext cx="7315200" cy="2400300"/>
          </a:xfrm>
          <a:prstGeom prst="roundRect">
            <a:avLst>
              <a:gd fmla="val 317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9" name="Google Shape;1099;p139"/>
          <p:cNvPicPr preferRelativeResize="0"/>
          <p:nvPr/>
        </p:nvPicPr>
        <p:blipFill rotWithShape="1">
          <a:blip r:embed="rId3">
            <a:alphaModFix/>
          </a:blip>
          <a:srcRect b="20" l="0" r="0" t="20"/>
          <a:stretch/>
        </p:blipFill>
        <p:spPr>
          <a:xfrm>
            <a:off x="914400" y="1047750"/>
            <a:ext cx="7315200" cy="2400300"/>
          </a:xfrm>
          <a:prstGeom prst="roundRect">
            <a:avLst>
              <a:gd fmla="val 3174" name="adj"/>
            </a:avLst>
          </a:prstGeom>
          <a:noFill/>
          <a:ln>
            <a:noFill/>
          </a:ln>
        </p:spPr>
      </p:pic>
      <p:sp>
        <p:nvSpPr>
          <p:cNvPr id="1100" name="Google Shape;1100;p139"/>
          <p:cNvSpPr/>
          <p:nvPr/>
        </p:nvSpPr>
        <p:spPr>
          <a:xfrm>
            <a:off x="457200" y="3619500"/>
            <a:ext cx="2571900" cy="21909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139"/>
          <p:cNvSpPr/>
          <p:nvPr/>
        </p:nvSpPr>
        <p:spPr>
          <a:xfrm>
            <a:off x="457200" y="3619500"/>
            <a:ext cx="95400" cy="2190900"/>
          </a:xfrm>
          <a:prstGeom prst="roundRect">
            <a:avLst>
              <a:gd fmla="val 50000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139"/>
          <p:cNvSpPr txBox="1"/>
          <p:nvPr/>
        </p:nvSpPr>
        <p:spPr>
          <a:xfrm>
            <a:off x="647700" y="3714750"/>
            <a:ext cx="2286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Method Analysis</a:t>
            </a:r>
            <a:endParaRPr b="1" sz="12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K-Means:</a:t>
            </a: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Optimal Silhouette/CH scores. Produces compact, well-separated clusters.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Hierarchical:</a:t>
            </a: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High Silhouette (0.746) but low CH score. Provides interpretability via dendrograms.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b="1" lang="en-US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DBSCAN:</a:t>
            </a: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Fragmented into 14 clusters with 562 noise points. Rejected for business scale.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139"/>
          <p:cNvSpPr/>
          <p:nvPr/>
        </p:nvSpPr>
        <p:spPr>
          <a:xfrm>
            <a:off x="3286125" y="3619500"/>
            <a:ext cx="2571900" cy="21909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139"/>
          <p:cNvSpPr/>
          <p:nvPr/>
        </p:nvSpPr>
        <p:spPr>
          <a:xfrm>
            <a:off x="3286125" y="3619500"/>
            <a:ext cx="95400" cy="2190900"/>
          </a:xfrm>
          <a:prstGeom prst="roundRect">
            <a:avLst>
              <a:gd fmla="val 50000" name="adj"/>
            </a:avLst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139"/>
          <p:cNvSpPr txBox="1"/>
          <p:nvPr/>
        </p:nvSpPr>
        <p:spPr>
          <a:xfrm>
            <a:off x="3476625" y="3714750"/>
            <a:ext cx="2286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Metrics Explained</a:t>
            </a:r>
            <a:endParaRPr b="1" sz="12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b="1" lang="en-US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Silhouette:</a:t>
            </a: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Cohesion &amp; separation (-1 to 1; High is better).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5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b="1" lang="en-US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Davies-Bouldin:</a:t>
            </a: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Ratio of within to between distances (Low is better).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50"/>
              </a:spcBef>
              <a:spcAft>
                <a:spcPts val="15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b="1" lang="en-US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Calinski-Harabasz:</a:t>
            </a: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Variance ratio (High is better).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139"/>
          <p:cNvSpPr/>
          <p:nvPr/>
        </p:nvSpPr>
        <p:spPr>
          <a:xfrm>
            <a:off x="6115050" y="3619500"/>
            <a:ext cx="2571900" cy="2190900"/>
          </a:xfrm>
          <a:prstGeom prst="roundRect">
            <a:avLst>
              <a:gd fmla="val 347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139"/>
          <p:cNvSpPr/>
          <p:nvPr/>
        </p:nvSpPr>
        <p:spPr>
          <a:xfrm>
            <a:off x="6115050" y="3619500"/>
            <a:ext cx="95400" cy="21909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139"/>
          <p:cNvSpPr txBox="1"/>
          <p:nvPr/>
        </p:nvSpPr>
        <p:spPr>
          <a:xfrm>
            <a:off x="6305550" y="3714750"/>
            <a:ext cx="2286000" cy="20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Final Recommendation</a:t>
            </a:r>
            <a:endParaRPr b="1" sz="12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rPr>
              <a:t>Selected: K-Means</a:t>
            </a:r>
            <a:endParaRPr b="1" sz="900">
              <a:solidFill>
                <a:srgbClr val="0596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30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Superior statistical stability.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50"/>
              </a:spcBef>
              <a:spcAft>
                <a:spcPts val="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Clear k=</a:t>
            </a:r>
            <a:r>
              <a:rPr lang="en-US" sz="1000">
                <a:solidFill>
                  <a:srgbClr val="334155"/>
                </a:solidFill>
              </a:rPr>
              <a:t>3</a:t>
            </a: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 business structure.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rtl="0" algn="l">
              <a:spcBef>
                <a:spcPts val="150"/>
              </a:spcBef>
              <a:spcAft>
                <a:spcPts val="150"/>
              </a:spcAft>
              <a:buClr>
                <a:srgbClr val="334155"/>
              </a:buClr>
              <a:buSzPts val="1000"/>
              <a:buFont typeface="Arial"/>
              <a:buChar char="●"/>
            </a:pPr>
            <a:r>
              <a:rPr lang="en-US" sz="10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Suitable for supervised learning extensions.</a:t>
            </a:r>
            <a:endParaRPr sz="1000">
              <a:solidFill>
                <a:srgbClr val="3341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9" name="Google Shape;1109;p139"/>
          <p:cNvSpPr/>
          <p:nvPr/>
        </p:nvSpPr>
        <p:spPr>
          <a:xfrm>
            <a:off x="457200" y="6000750"/>
            <a:ext cx="8229600" cy="571500"/>
          </a:xfrm>
          <a:prstGeom prst="roundRect">
            <a:avLst>
              <a:gd fmla="val 13333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0" name="Google Shape;1110;p139"/>
          <p:cNvSpPr txBox="1"/>
          <p:nvPr/>
        </p:nvSpPr>
        <p:spPr>
          <a:xfrm>
            <a:off x="647700" y="6000750"/>
            <a:ext cx="7848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Strategic Insight: </a:t>
            </a:r>
            <a:r>
              <a:rPr b="0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Multiple metrics ensure the chosen model is not biased by a single perspective. K-Means offers the best balance of mathematical rigor and business utility.</a:t>
            </a:r>
            <a:endParaRPr b="1" sz="1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40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140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40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Validation Methodology: Two-Step Approach</a:t>
            </a:r>
            <a:endParaRPr b="1" sz="24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118" name="Google Shape;1118;p140"/>
          <p:cNvGrpSpPr/>
          <p:nvPr/>
        </p:nvGrpSpPr>
        <p:grpSpPr>
          <a:xfrm>
            <a:off x="457200" y="1000125"/>
            <a:ext cx="8229600" cy="571500"/>
            <a:chOff x="457200" y="1000125"/>
            <a:chExt cx="8229600" cy="571500"/>
          </a:xfrm>
        </p:grpSpPr>
        <p:sp>
          <p:nvSpPr>
            <p:cNvPr id="1119" name="Google Shape;1119;p140"/>
            <p:cNvSpPr/>
            <p:nvPr/>
          </p:nvSpPr>
          <p:spPr>
            <a:xfrm>
              <a:off x="457200" y="1000125"/>
              <a:ext cx="82296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140"/>
            <p:cNvSpPr txBox="1"/>
            <p:nvPr/>
          </p:nvSpPr>
          <p:spPr>
            <a:xfrm>
              <a:off x="647700" y="1000125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This two-step approach was critical for ensuring the </a:t>
              </a:r>
              <a:r>
                <a:rPr b="1"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validity, stability, and operational usability</a:t>
              </a: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of customer segments.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1" name="Google Shape;1121;p140"/>
          <p:cNvGrpSpPr/>
          <p:nvPr/>
        </p:nvGrpSpPr>
        <p:grpSpPr>
          <a:xfrm>
            <a:off x="457200" y="1714500"/>
            <a:ext cx="4000500" cy="2286000"/>
            <a:chOff x="457200" y="1714500"/>
            <a:chExt cx="4000500" cy="2286000"/>
          </a:xfrm>
        </p:grpSpPr>
        <p:sp>
          <p:nvSpPr>
            <p:cNvPr id="1122" name="Google Shape;1122;p140"/>
            <p:cNvSpPr/>
            <p:nvPr/>
          </p:nvSpPr>
          <p:spPr>
            <a:xfrm>
              <a:off x="457200" y="1714500"/>
              <a:ext cx="40005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140"/>
            <p:cNvSpPr/>
            <p:nvPr/>
          </p:nvSpPr>
          <p:spPr>
            <a:xfrm>
              <a:off x="457200" y="1714500"/>
              <a:ext cx="95400" cy="22860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140"/>
            <p:cNvSpPr txBox="1"/>
            <p:nvPr/>
          </p:nvSpPr>
          <p:spPr>
            <a:xfrm>
              <a:off x="647700" y="1809750"/>
              <a:ext cx="3714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Step 1: Unsupervised Learning</a:t>
              </a:r>
              <a:endParaRPr b="1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Objective: Discovery.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Finding natural groupings without predefined labels.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Algorithms: K-Means, Hierarchical, DBSCAN.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Goal: Reveal patterns directly from raw data.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5" name="Google Shape;1125;p140"/>
          <p:cNvGrpSpPr/>
          <p:nvPr/>
        </p:nvGrpSpPr>
        <p:grpSpPr>
          <a:xfrm>
            <a:off x="4686300" y="1714500"/>
            <a:ext cx="4000500" cy="2286000"/>
            <a:chOff x="4686300" y="1714500"/>
            <a:chExt cx="4000500" cy="2286000"/>
          </a:xfrm>
        </p:grpSpPr>
        <p:sp>
          <p:nvSpPr>
            <p:cNvPr id="1126" name="Google Shape;1126;p140"/>
            <p:cNvSpPr/>
            <p:nvPr/>
          </p:nvSpPr>
          <p:spPr>
            <a:xfrm>
              <a:off x="4686300" y="1714500"/>
              <a:ext cx="40005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140"/>
            <p:cNvSpPr/>
            <p:nvPr/>
          </p:nvSpPr>
          <p:spPr>
            <a:xfrm>
              <a:off x="4686300" y="1714500"/>
              <a:ext cx="95400" cy="22860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140"/>
            <p:cNvSpPr txBox="1"/>
            <p:nvPr/>
          </p:nvSpPr>
          <p:spPr>
            <a:xfrm>
              <a:off x="4876800" y="1809750"/>
              <a:ext cx="37149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Step 2: Supervised Learning</a:t>
              </a:r>
              <a:endParaRPr b="1" sz="1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Objective: Validation.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Using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Multinomial 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Logistic Regression to test segment clarity.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Target: Discovered cluster labels.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Input: Original features (RFM, etc.).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300"/>
                </a:spcBef>
                <a:spcAft>
                  <a:spcPts val="30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L2 Accuracy: 99.07% confirms stability.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9" name="Google Shape;1129;p140"/>
          <p:cNvGrpSpPr/>
          <p:nvPr/>
        </p:nvGrpSpPr>
        <p:grpSpPr>
          <a:xfrm>
            <a:off x="457200" y="4191000"/>
            <a:ext cx="8229600" cy="2381400"/>
            <a:chOff x="457200" y="4191000"/>
            <a:chExt cx="8229600" cy="2381400"/>
          </a:xfrm>
        </p:grpSpPr>
        <p:sp>
          <p:nvSpPr>
            <p:cNvPr id="1130" name="Google Shape;1130;p140"/>
            <p:cNvSpPr/>
            <p:nvPr/>
          </p:nvSpPr>
          <p:spPr>
            <a:xfrm>
              <a:off x="457200" y="4191000"/>
              <a:ext cx="8229600" cy="2381400"/>
            </a:xfrm>
            <a:prstGeom prst="roundRect">
              <a:avLst>
                <a:gd fmla="val 32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140"/>
            <p:cNvSpPr/>
            <p:nvPr/>
          </p:nvSpPr>
          <p:spPr>
            <a:xfrm>
              <a:off x="457200" y="4191000"/>
              <a:ext cx="95400" cy="23814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140"/>
            <p:cNvSpPr txBox="1"/>
            <p:nvPr/>
          </p:nvSpPr>
          <p:spPr>
            <a:xfrm>
              <a:off x="647700" y="4286250"/>
              <a:ext cx="7848600" cy="219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Key Validation &amp; Operational Outcomes</a:t>
              </a:r>
              <a:endParaRPr b="1" sz="12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• Validating Quality: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High accuracy proves segments are statistically robust and distinct.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• Reproducibility: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Confirms clusters are genuine behavioral segments, not random artifacts.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• Operationalization: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Supervised models allow immediate assignment of </a:t>
              </a: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new customers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without re-running intensive clustering.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• Feature Selection: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Comparison of L1 (Lasso) vs L2 (Ridge) identifies the most crucial business drivers for each segment.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141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141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141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Validation: Supervised Learning Extension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140" name="Google Shape;1140;p141"/>
          <p:cNvGrpSpPr/>
          <p:nvPr/>
        </p:nvGrpSpPr>
        <p:grpSpPr>
          <a:xfrm>
            <a:off x="457200" y="1047750"/>
            <a:ext cx="4000500" cy="2476500"/>
            <a:chOff x="457200" y="1047750"/>
            <a:chExt cx="4000500" cy="2476500"/>
          </a:xfrm>
        </p:grpSpPr>
        <p:sp>
          <p:nvSpPr>
            <p:cNvPr id="1141" name="Google Shape;1141;p141"/>
            <p:cNvSpPr/>
            <p:nvPr/>
          </p:nvSpPr>
          <p:spPr>
            <a:xfrm>
              <a:off x="457200" y="1047750"/>
              <a:ext cx="4000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141"/>
            <p:cNvSpPr/>
            <p:nvPr/>
          </p:nvSpPr>
          <p:spPr>
            <a:xfrm>
              <a:off x="457200" y="1047750"/>
              <a:ext cx="95400" cy="24765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141"/>
            <p:cNvSpPr txBox="1"/>
            <p:nvPr/>
          </p:nvSpPr>
          <p:spPr>
            <a:xfrm>
              <a:off x="647700" y="1143000"/>
              <a:ext cx="3619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Rationale &amp; Methodology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Can we predict cluster membership using the original features?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Goal:</a:t>
              </a: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Validate if clusters are well-defined and stable.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Model:</a:t>
              </a: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Multinomial Logistic Regression with L1/L2 penalties.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Training Size:</a:t>
              </a: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3,444 samples.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4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Test Size:</a:t>
              </a: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862 samples (20% split).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4" name="Google Shape;1144;p141"/>
          <p:cNvGrpSpPr/>
          <p:nvPr/>
        </p:nvGrpSpPr>
        <p:grpSpPr>
          <a:xfrm>
            <a:off x="4686300" y="1047750"/>
            <a:ext cx="4000500" cy="2476500"/>
            <a:chOff x="4686300" y="1047750"/>
            <a:chExt cx="4000500" cy="2476500"/>
          </a:xfrm>
        </p:grpSpPr>
        <p:sp>
          <p:nvSpPr>
            <p:cNvPr id="1145" name="Google Shape;1145;p141"/>
            <p:cNvSpPr/>
            <p:nvPr/>
          </p:nvSpPr>
          <p:spPr>
            <a:xfrm>
              <a:off x="4686300" y="1047750"/>
              <a:ext cx="4000500" cy="2476500"/>
            </a:xfrm>
            <a:prstGeom prst="roundRect">
              <a:avLst>
                <a:gd fmla="val 307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141"/>
            <p:cNvSpPr/>
            <p:nvPr/>
          </p:nvSpPr>
          <p:spPr>
            <a:xfrm>
              <a:off x="4686300" y="1047750"/>
              <a:ext cx="95400" cy="24765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141"/>
            <p:cNvSpPr txBox="1"/>
            <p:nvPr/>
          </p:nvSpPr>
          <p:spPr>
            <a:xfrm>
              <a:off x="4876800" y="1143000"/>
              <a:ext cx="36195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Model Performance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32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99.07%</a:t>
              </a:r>
              <a:endParaRPr b="1" sz="32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L2 (Ridge) Accuracy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D59C3E"/>
                  </a:solidFill>
                  <a:latin typeface="Arial"/>
                  <a:ea typeface="Arial"/>
                  <a:cs typeface="Arial"/>
                  <a:sym typeface="Arial"/>
                </a:rPr>
                <a:t>97.80%</a:t>
              </a:r>
              <a:endParaRPr b="1" sz="2800">
                <a:solidFill>
                  <a:srgbClr val="D59C3E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L1 (Lasso) Accuracy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8" name="Google Shape;1148;p141"/>
          <p:cNvGrpSpPr/>
          <p:nvPr/>
        </p:nvGrpSpPr>
        <p:grpSpPr>
          <a:xfrm>
            <a:off x="457200" y="3667125"/>
            <a:ext cx="8229600" cy="2095500"/>
            <a:chOff x="457200" y="3667125"/>
            <a:chExt cx="8229600" cy="2095500"/>
          </a:xfrm>
        </p:grpSpPr>
        <p:sp>
          <p:nvSpPr>
            <p:cNvPr id="1149" name="Google Shape;1149;p141"/>
            <p:cNvSpPr/>
            <p:nvPr/>
          </p:nvSpPr>
          <p:spPr>
            <a:xfrm>
              <a:off x="457200" y="3667125"/>
              <a:ext cx="8229600" cy="2095500"/>
            </a:xfrm>
            <a:prstGeom prst="roundRect">
              <a:avLst>
                <a:gd fmla="val 3636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141"/>
            <p:cNvSpPr/>
            <p:nvPr/>
          </p:nvSpPr>
          <p:spPr>
            <a:xfrm>
              <a:off x="457200" y="3667125"/>
              <a:ext cx="95400" cy="20955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141"/>
            <p:cNvSpPr txBox="1"/>
            <p:nvPr/>
          </p:nvSpPr>
          <p:spPr>
            <a:xfrm>
              <a:off x="647700" y="3762375"/>
              <a:ext cx="78486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Validation Outcomes</a:t>
              </a:r>
              <a:endParaRPr b="1" sz="14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• High Stability: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Near-perfect accuracy across both regularization techniques confirms the segments are statistically robust and distinct.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• Feature Selection: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L1 (Lasso) provides an interpretable model by identifying key features, while L2 (Ridge) offers maximum predictive smoothing.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• Class Distribution: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Training set dominated by Cluster 2 (55.6%), followed by Cluster 0 (34.9%) and Cluster 1 (9.5%).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2" name="Google Shape;1152;p141"/>
          <p:cNvGrpSpPr/>
          <p:nvPr/>
        </p:nvGrpSpPr>
        <p:grpSpPr>
          <a:xfrm>
            <a:off x="457200" y="5905500"/>
            <a:ext cx="8229600" cy="666900"/>
            <a:chOff x="457200" y="5905500"/>
            <a:chExt cx="8229600" cy="666900"/>
          </a:xfrm>
        </p:grpSpPr>
        <p:sp>
          <p:nvSpPr>
            <p:cNvPr id="1153" name="Google Shape;1153;p141"/>
            <p:cNvSpPr/>
            <p:nvPr/>
          </p:nvSpPr>
          <p:spPr>
            <a:xfrm>
              <a:off x="457200" y="5905500"/>
              <a:ext cx="8229600" cy="666900"/>
            </a:xfrm>
            <a:prstGeom prst="roundRect">
              <a:avLst>
                <a:gd fmla="val 11428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141"/>
            <p:cNvSpPr txBox="1"/>
            <p:nvPr/>
          </p:nvSpPr>
          <p:spPr>
            <a:xfrm>
              <a:off x="647700" y="5905500"/>
              <a:ext cx="78486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Validation Insight: </a:t>
              </a: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Predicting cluster membership with over 97% accuracy demonstrates that segments represent genuine customer behavioral patterns rather than random artifacts.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9" name="Google Shape;1159;p142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0" name="Google Shape;1160;p142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1" name="Google Shape;1161;p142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142"/>
          <p:cNvSpPr txBox="1"/>
          <p:nvPr>
            <p:ph type="title"/>
          </p:nvPr>
        </p:nvSpPr>
        <p:spPr>
          <a:xfrm>
            <a:off x="457200" y="10477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Validation Confusion Matrices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63" name="Google Shape;1163;p142"/>
          <p:cNvSpPr/>
          <p:nvPr/>
        </p:nvSpPr>
        <p:spPr>
          <a:xfrm>
            <a:off x="457200" y="1095375"/>
            <a:ext cx="8229600" cy="4000500"/>
          </a:xfrm>
          <a:prstGeom prst="roundRect">
            <a:avLst>
              <a:gd fmla="val 1904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4" name="Google Shape;1164;p142"/>
          <p:cNvPicPr preferRelativeResize="0"/>
          <p:nvPr/>
        </p:nvPicPr>
        <p:blipFill rotWithShape="1">
          <a:blip r:embed="rId4">
            <a:alphaModFix/>
          </a:blip>
          <a:srcRect b="0" l="485" r="485" t="0"/>
          <a:stretch/>
        </p:blipFill>
        <p:spPr>
          <a:xfrm>
            <a:off x="609600" y="1285875"/>
            <a:ext cx="7924800" cy="2857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5" name="Google Shape;1165;p142"/>
          <p:cNvGrpSpPr/>
          <p:nvPr/>
        </p:nvGrpSpPr>
        <p:grpSpPr>
          <a:xfrm>
            <a:off x="457200" y="5191125"/>
            <a:ext cx="8229600" cy="1428900"/>
            <a:chOff x="457200" y="5191125"/>
            <a:chExt cx="8229600" cy="1428900"/>
          </a:xfrm>
        </p:grpSpPr>
        <p:sp>
          <p:nvSpPr>
            <p:cNvPr id="1166" name="Google Shape;1166;p142"/>
            <p:cNvSpPr/>
            <p:nvPr/>
          </p:nvSpPr>
          <p:spPr>
            <a:xfrm>
              <a:off x="457200" y="5191125"/>
              <a:ext cx="82296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142"/>
            <p:cNvSpPr/>
            <p:nvPr/>
          </p:nvSpPr>
          <p:spPr>
            <a:xfrm>
              <a:off x="457200" y="5191125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142"/>
            <p:cNvSpPr txBox="1"/>
            <p:nvPr/>
          </p:nvSpPr>
          <p:spPr>
            <a:xfrm>
              <a:off x="647700" y="5191125"/>
              <a:ext cx="7848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Validation Insight</a:t>
              </a:r>
              <a:endParaRPr b="1" sz="14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Near-perfect classification:</a:t>
              </a:r>
              <a:r>
                <a:rPr lang="en-US" sz="11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High accuracy across both L1 and L2 matrices confirms the presence of clear, distinct customer segment boundaries.</a:t>
              </a:r>
              <a:endParaRPr sz="11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L2 (Ridge) and L1 (Lasso) metrics refer to the performance of the </a:t>
              </a: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Multinomial Logistic Regression</a:t>
              </a: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models used to test the clarity and stability of the discovered customer segments.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2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14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143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43"/>
          <p:cNvSpPr txBox="1"/>
          <p:nvPr>
            <p:ph type="title"/>
          </p:nvPr>
        </p:nvSpPr>
        <p:spPr>
          <a:xfrm>
            <a:off x="457200" y="104775"/>
            <a:ext cx="82296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Regularization Insights: L1 vs. L2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176" name="Google Shape;1176;p143"/>
          <p:cNvGrpSpPr/>
          <p:nvPr/>
        </p:nvGrpSpPr>
        <p:grpSpPr>
          <a:xfrm>
            <a:off x="457200" y="1095375"/>
            <a:ext cx="4000500" cy="3238500"/>
            <a:chOff x="457200" y="1095375"/>
            <a:chExt cx="4000500" cy="3238500"/>
          </a:xfrm>
        </p:grpSpPr>
        <p:sp>
          <p:nvSpPr>
            <p:cNvPr id="1177" name="Google Shape;1177;p143"/>
            <p:cNvSpPr/>
            <p:nvPr/>
          </p:nvSpPr>
          <p:spPr>
            <a:xfrm>
              <a:off x="457200" y="1095375"/>
              <a:ext cx="40005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143"/>
            <p:cNvSpPr/>
            <p:nvPr/>
          </p:nvSpPr>
          <p:spPr>
            <a:xfrm>
              <a:off x="457200" y="1095375"/>
              <a:ext cx="95400" cy="32385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143"/>
            <p:cNvSpPr txBox="1"/>
            <p:nvPr/>
          </p:nvSpPr>
          <p:spPr>
            <a:xfrm>
              <a:off x="647700" y="1190625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L2 Regularization (Ridge)</a:t>
              </a:r>
              <a:endParaRPr b="1" sz="16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Retains all features with smooth, non-zero coefficients.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Performance:</a:t>
              </a:r>
              <a:r>
                <a:rPr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Superior predictive accuracy when all features are relevant.</a:t>
              </a:r>
              <a:endParaRPr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Magnitude:</a:t>
              </a:r>
              <a:r>
                <a:rPr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Coefficients are comparable in size.</a:t>
              </a:r>
              <a:endParaRPr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Trade-off:</a:t>
              </a:r>
              <a:r>
                <a:rPr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Less interpretable; harder to isolate specific key drivers.</a:t>
              </a:r>
              <a:endParaRPr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4305C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CV Results (Accuracy)</a:t>
              </a:r>
              <a:endParaRPr b="1" sz="900">
                <a:solidFill>
                  <a:srgbClr val="14305C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4305C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0.9956 </a:t>
              </a:r>
              <a:r>
                <a:rPr b="0" lang="en-US" sz="1200">
                  <a:solidFill>
                    <a:srgbClr val="14305C"/>
                  </a:solidFill>
                  <a:highlight>
                    <a:srgbClr val="F1F5F9"/>
                  </a:highlight>
                  <a:latin typeface="Arial"/>
                  <a:ea typeface="Arial"/>
                  <a:cs typeface="Arial"/>
                  <a:sym typeface="Arial"/>
                </a:rPr>
                <a:t>± 0.0013</a:t>
              </a:r>
              <a:endParaRPr b="1" sz="2400">
                <a:solidFill>
                  <a:srgbClr val="14305C"/>
                </a:solidFill>
                <a:highlight>
                  <a:srgbClr val="F1F5F9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0" name="Google Shape;1180;p143"/>
          <p:cNvGrpSpPr/>
          <p:nvPr/>
        </p:nvGrpSpPr>
        <p:grpSpPr>
          <a:xfrm>
            <a:off x="4686300" y="1095375"/>
            <a:ext cx="4000500" cy="3238500"/>
            <a:chOff x="4686300" y="1095375"/>
            <a:chExt cx="4000500" cy="3238500"/>
          </a:xfrm>
        </p:grpSpPr>
        <p:sp>
          <p:nvSpPr>
            <p:cNvPr id="1181" name="Google Shape;1181;p143"/>
            <p:cNvSpPr/>
            <p:nvPr/>
          </p:nvSpPr>
          <p:spPr>
            <a:xfrm>
              <a:off x="4686300" y="1095375"/>
              <a:ext cx="4000500" cy="3238500"/>
            </a:xfrm>
            <a:prstGeom prst="roundRect">
              <a:avLst>
                <a:gd fmla="val 235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143"/>
            <p:cNvSpPr/>
            <p:nvPr/>
          </p:nvSpPr>
          <p:spPr>
            <a:xfrm>
              <a:off x="4686300" y="1095375"/>
              <a:ext cx="95400" cy="32385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143"/>
            <p:cNvSpPr txBox="1"/>
            <p:nvPr/>
          </p:nvSpPr>
          <p:spPr>
            <a:xfrm>
              <a:off x="4876800" y="1190625"/>
              <a:ext cx="36195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L1 Regularization (Lasso)</a:t>
              </a:r>
              <a:endParaRPr b="1" sz="16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Automatic feature selection via zero-valued coefficients.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Sparsity:</a:t>
              </a:r>
              <a:r>
                <a:rPr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Retains only the most impactful predictive features.</a:t>
              </a:r>
              <a:endParaRPr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Clarity:</a:t>
              </a:r>
              <a:r>
                <a:rPr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Highly interpretable identification of behavioral drivers.</a:t>
              </a:r>
              <a:endParaRPr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1E293B"/>
                </a:buClr>
                <a:buSzPts val="1000"/>
                <a:buFont typeface="Arial"/>
                <a:buChar char="●"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Trade-off:</a:t>
              </a:r>
              <a:r>
                <a:rPr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May sacrifice slight accuracy for model simplicity.</a:t>
              </a:r>
              <a:endParaRPr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92400E"/>
                  </a:solidFill>
                  <a:highlight>
                    <a:srgbClr val="FEF3C7"/>
                  </a:highlight>
                  <a:latin typeface="Arial"/>
                  <a:ea typeface="Arial"/>
                  <a:cs typeface="Arial"/>
                  <a:sym typeface="Arial"/>
                </a:rPr>
                <a:t>CV Results (Accuracy)</a:t>
              </a:r>
              <a:endParaRPr b="1" sz="900">
                <a:solidFill>
                  <a:srgbClr val="92400E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D59C3E"/>
                  </a:solidFill>
                  <a:highlight>
                    <a:srgbClr val="FEF3C7"/>
                  </a:highlight>
                  <a:latin typeface="Arial"/>
                  <a:ea typeface="Arial"/>
                  <a:cs typeface="Arial"/>
                  <a:sym typeface="Arial"/>
                </a:rPr>
                <a:t>0.9765 </a:t>
              </a:r>
              <a:r>
                <a:rPr b="0" lang="en-US" sz="1200">
                  <a:solidFill>
                    <a:srgbClr val="D59C3E"/>
                  </a:solidFill>
                  <a:highlight>
                    <a:srgbClr val="FEF3C7"/>
                  </a:highlight>
                  <a:latin typeface="Arial"/>
                  <a:ea typeface="Arial"/>
                  <a:cs typeface="Arial"/>
                  <a:sym typeface="Arial"/>
                </a:rPr>
                <a:t>± 0.0043</a:t>
              </a:r>
              <a:endParaRPr b="1" sz="2400">
                <a:solidFill>
                  <a:srgbClr val="D59C3E"/>
                </a:solidFill>
                <a:highlight>
                  <a:srgbClr val="FEF3C7"/>
                </a:highlight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4" name="Google Shape;1184;p143"/>
          <p:cNvGrpSpPr/>
          <p:nvPr/>
        </p:nvGrpSpPr>
        <p:grpSpPr>
          <a:xfrm>
            <a:off x="457200" y="4572000"/>
            <a:ext cx="8229600" cy="1428900"/>
            <a:chOff x="457200" y="4572000"/>
            <a:chExt cx="8229600" cy="1428900"/>
          </a:xfrm>
        </p:grpSpPr>
        <p:sp>
          <p:nvSpPr>
            <p:cNvPr id="1185" name="Google Shape;1185;p143"/>
            <p:cNvSpPr/>
            <p:nvPr/>
          </p:nvSpPr>
          <p:spPr>
            <a:xfrm>
              <a:off x="457200" y="4572000"/>
              <a:ext cx="82296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143"/>
            <p:cNvSpPr/>
            <p:nvPr/>
          </p:nvSpPr>
          <p:spPr>
            <a:xfrm>
              <a:off x="457200" y="457200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143"/>
            <p:cNvSpPr txBox="1"/>
            <p:nvPr/>
          </p:nvSpPr>
          <p:spPr>
            <a:xfrm>
              <a:off x="647700" y="4667250"/>
              <a:ext cx="78486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Key Implication</a:t>
              </a:r>
              <a:endParaRPr b="1" sz="14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High Predictability = Stable Segments:</a:t>
              </a:r>
              <a:r>
                <a:rPr lang="en-US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 The exceptional cross-validation performance (97%+ accuracy) across both techniques confirms that customer clusters are statistically distinct and well-separated behaviors, not random artifacts.</a:t>
              </a:r>
              <a:endParaRPr sz="120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Robustness confirmed via 5-fold cross-validation, ensuring stability across all key metrics (Precision, Recall, and F1-score).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88" name="Google Shape;1188;p143"/>
          <p:cNvGrpSpPr/>
          <p:nvPr/>
        </p:nvGrpSpPr>
        <p:grpSpPr>
          <a:xfrm>
            <a:off x="457200" y="6191250"/>
            <a:ext cx="8229600" cy="476400"/>
            <a:chOff x="457200" y="6191250"/>
            <a:chExt cx="8229600" cy="476400"/>
          </a:xfrm>
        </p:grpSpPr>
        <p:sp>
          <p:nvSpPr>
            <p:cNvPr id="1189" name="Google Shape;1189;p143"/>
            <p:cNvSpPr/>
            <p:nvPr/>
          </p:nvSpPr>
          <p:spPr>
            <a:xfrm>
              <a:off x="457200" y="6191250"/>
              <a:ext cx="8229600" cy="476400"/>
            </a:xfrm>
            <a:prstGeom prst="roundRect">
              <a:avLst>
                <a:gd fmla="val 16000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143"/>
            <p:cNvSpPr txBox="1"/>
            <p:nvPr/>
          </p:nvSpPr>
          <p:spPr>
            <a:xfrm>
              <a:off x="647700" y="6191250"/>
              <a:ext cx="7848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Conclusion:</a:t>
              </a: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L2 provides the baseline for max performance, while L1 confirms the importance of a select few behavioral features.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4" name="Google Shape;1194;p144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144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144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144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40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Summary</a:t>
            </a: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: From Raw Data to Segments</a:t>
            </a:r>
            <a:endParaRPr b="1" sz="24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198" name="Google Shape;1198;p144"/>
          <p:cNvSpPr/>
          <p:nvPr/>
        </p:nvSpPr>
        <p:spPr>
          <a:xfrm>
            <a:off x="457200" y="1000125"/>
            <a:ext cx="8229600" cy="428700"/>
          </a:xfrm>
          <a:prstGeom prst="roundRect">
            <a:avLst>
              <a:gd fmla="val 177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144"/>
          <p:cNvSpPr txBox="1"/>
          <p:nvPr/>
        </p:nvSpPr>
        <p:spPr>
          <a:xfrm>
            <a:off x="647700" y="1000125"/>
            <a:ext cx="7848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Strategic Overview: </a:t>
            </a:r>
            <a:r>
              <a:rPr b="0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A 5-step rigorous statistical learning process ensuring data integrity and meaningful behavioral feature extraction.</a:t>
            </a:r>
            <a:endParaRPr b="1" sz="11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0" name="Google Shape;1200;p144"/>
          <p:cNvGrpSpPr/>
          <p:nvPr/>
        </p:nvGrpSpPr>
        <p:grpSpPr>
          <a:xfrm>
            <a:off x="457200" y="1571625"/>
            <a:ext cx="2619300" cy="1428900"/>
            <a:chOff x="0" y="0"/>
            <a:chExt cx="2619300" cy="1428900"/>
          </a:xfrm>
        </p:grpSpPr>
        <p:sp>
          <p:nvSpPr>
            <p:cNvPr id="1201" name="Google Shape;1201;p144"/>
            <p:cNvSpPr/>
            <p:nvPr/>
          </p:nvSpPr>
          <p:spPr>
            <a:xfrm>
              <a:off x="0" y="0"/>
              <a:ext cx="26193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144"/>
            <p:cNvSpPr/>
            <p:nvPr/>
          </p:nvSpPr>
          <p:spPr>
            <a:xfrm>
              <a:off x="0" y="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144"/>
            <p:cNvSpPr txBox="1"/>
            <p:nvPr/>
          </p:nvSpPr>
          <p:spPr>
            <a:xfrm>
              <a:off x="238125" y="142875"/>
              <a:ext cx="22383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1. Data Loading &amp; Discovery</a:t>
              </a:r>
              <a:endParaRPr b="1" sz="1105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Understand structure &amp; quality.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Inspected types &amp; missing values.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Findings: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Identified negative quantities &amp; unit price errors.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4" name="Google Shape;1204;p144"/>
          <p:cNvGrpSpPr/>
          <p:nvPr/>
        </p:nvGrpSpPr>
        <p:grpSpPr>
          <a:xfrm>
            <a:off x="3257550" y="1571625"/>
            <a:ext cx="2619300" cy="1428900"/>
            <a:chOff x="0" y="0"/>
            <a:chExt cx="2619300" cy="1428900"/>
          </a:xfrm>
        </p:grpSpPr>
        <p:sp>
          <p:nvSpPr>
            <p:cNvPr id="1205" name="Google Shape;1205;p144"/>
            <p:cNvSpPr/>
            <p:nvPr/>
          </p:nvSpPr>
          <p:spPr>
            <a:xfrm>
              <a:off x="0" y="0"/>
              <a:ext cx="26193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144"/>
            <p:cNvSpPr/>
            <p:nvPr/>
          </p:nvSpPr>
          <p:spPr>
            <a:xfrm>
              <a:off x="0" y="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144"/>
            <p:cNvSpPr txBox="1"/>
            <p:nvPr/>
          </p:nvSpPr>
          <p:spPr>
            <a:xfrm>
              <a:off x="238125" y="142875"/>
              <a:ext cx="22383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2. Cleaning &amp; Preprocessing</a:t>
              </a:r>
              <a:endParaRPr b="1" sz="1105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Create a reliable dataset.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Removed duplicates &amp; missing IDs.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Filtered outliers via IQR method.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Justified focus on valid purchases.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8" name="Google Shape;1208;p144"/>
          <p:cNvGrpSpPr/>
          <p:nvPr/>
        </p:nvGrpSpPr>
        <p:grpSpPr>
          <a:xfrm>
            <a:off x="6067425" y="1571625"/>
            <a:ext cx="2619300" cy="1428900"/>
            <a:chOff x="0" y="0"/>
            <a:chExt cx="2619300" cy="1428900"/>
          </a:xfrm>
        </p:grpSpPr>
        <p:sp>
          <p:nvSpPr>
            <p:cNvPr id="1209" name="Google Shape;1209;p144"/>
            <p:cNvSpPr/>
            <p:nvPr/>
          </p:nvSpPr>
          <p:spPr>
            <a:xfrm>
              <a:off x="0" y="0"/>
              <a:ext cx="2619300" cy="1428900"/>
            </a:xfrm>
            <a:prstGeom prst="roundRect">
              <a:avLst>
                <a:gd fmla="val 5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144"/>
            <p:cNvSpPr/>
            <p:nvPr/>
          </p:nvSpPr>
          <p:spPr>
            <a:xfrm>
              <a:off x="0" y="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144"/>
            <p:cNvSpPr txBox="1"/>
            <p:nvPr/>
          </p:nvSpPr>
          <p:spPr>
            <a:xfrm>
              <a:off x="238125" y="142875"/>
              <a:ext cx="2238300" cy="119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3. Feature Engineering</a:t>
              </a:r>
              <a:endParaRPr b="1" sz="1105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Capture behavior metrics.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Calculated RFM (Recency, Frequency, Monetary).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Derived LTV &amp; Product Diversity.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2" name="Google Shape;1212;p144"/>
          <p:cNvGrpSpPr/>
          <p:nvPr/>
        </p:nvGrpSpPr>
        <p:grpSpPr>
          <a:xfrm>
            <a:off x="457200" y="3190875"/>
            <a:ext cx="4000500" cy="1714500"/>
            <a:chOff x="0" y="0"/>
            <a:chExt cx="4000500" cy="1714500"/>
          </a:xfrm>
        </p:grpSpPr>
        <p:sp>
          <p:nvSpPr>
            <p:cNvPr id="1213" name="Google Shape;1213;p144"/>
            <p:cNvSpPr/>
            <p:nvPr/>
          </p:nvSpPr>
          <p:spPr>
            <a:xfrm>
              <a:off x="0" y="0"/>
              <a:ext cx="40005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144"/>
            <p:cNvSpPr/>
            <p:nvPr/>
          </p:nvSpPr>
          <p:spPr>
            <a:xfrm>
              <a:off x="0" y="0"/>
              <a:ext cx="95400" cy="17145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144"/>
            <p:cNvSpPr txBox="1"/>
            <p:nvPr/>
          </p:nvSpPr>
          <p:spPr>
            <a:xfrm>
              <a:off x="238125" y="142875"/>
              <a:ext cx="3619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4. Exploratory Data Analysis (EDA)</a:t>
              </a:r>
              <a:endParaRPr b="1" sz="1105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Insight into feature distributions &amp; relationships.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Visualized skewness via histograms &amp; box plots.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Correlation matrix confirmed feature relationships.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Findings: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High right-skewness justified the need for transformations and dimensionality reduction.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6" name="Google Shape;1216;p144"/>
          <p:cNvGrpSpPr/>
          <p:nvPr/>
        </p:nvGrpSpPr>
        <p:grpSpPr>
          <a:xfrm>
            <a:off x="4686300" y="3190875"/>
            <a:ext cx="4000500" cy="1714500"/>
            <a:chOff x="0" y="0"/>
            <a:chExt cx="4000500" cy="1714500"/>
          </a:xfrm>
        </p:grpSpPr>
        <p:sp>
          <p:nvSpPr>
            <p:cNvPr id="1217" name="Google Shape;1217;p144"/>
            <p:cNvSpPr/>
            <p:nvPr/>
          </p:nvSpPr>
          <p:spPr>
            <a:xfrm>
              <a:off x="0" y="0"/>
              <a:ext cx="40005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144"/>
            <p:cNvSpPr/>
            <p:nvPr/>
          </p:nvSpPr>
          <p:spPr>
            <a:xfrm>
              <a:off x="0" y="0"/>
              <a:ext cx="95400" cy="17145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144"/>
            <p:cNvSpPr txBox="1"/>
            <p:nvPr/>
          </p:nvSpPr>
          <p:spPr>
            <a:xfrm>
              <a:off x="238125" y="142875"/>
              <a:ext cx="3619500" cy="147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5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5. Data Scaling &amp; Transformation</a:t>
              </a:r>
              <a:endParaRPr b="1" sz="1105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Prepare for distance-based clustering.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Log Transformation: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Applied np.log1p to stabilize variance and reduce impact of outliers.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Standardization: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Scaled features to mean 0, std 1 using StandardScaler.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200"/>
                </a:spcBef>
                <a:spcAft>
                  <a:spcPts val="20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Ensures equal weighting in similarity calculations.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0" name="Google Shape;1220;p144"/>
          <p:cNvSpPr/>
          <p:nvPr/>
        </p:nvSpPr>
        <p:spPr>
          <a:xfrm>
            <a:off x="457200" y="5095875"/>
            <a:ext cx="8229600" cy="5715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144"/>
          <p:cNvSpPr/>
          <p:nvPr/>
        </p:nvSpPr>
        <p:spPr>
          <a:xfrm>
            <a:off x="0" y="0"/>
            <a:ext cx="95400" cy="571500"/>
          </a:xfrm>
          <a:prstGeom prst="roundRect">
            <a:avLst>
              <a:gd fmla="val 5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144"/>
          <p:cNvSpPr txBox="1"/>
          <p:nvPr/>
        </p:nvSpPr>
        <p:spPr>
          <a:xfrm>
            <a:off x="647700" y="5095875"/>
            <a:ext cx="7848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Methodological Verdict: </a:t>
            </a:r>
            <a:r>
              <a:rPr b="0" lang="en-U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combination of log-scaling and standardization creates a robust foundation for K-Means, ensuring that high-magnitude variables do not bias the resulting customer segments.</a:t>
            </a:r>
            <a:endParaRPr b="1" sz="11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144"/>
          <p:cNvSpPr/>
          <p:nvPr/>
        </p:nvSpPr>
        <p:spPr>
          <a:xfrm>
            <a:off x="457200" y="5857875"/>
            <a:ext cx="8229600" cy="381000"/>
          </a:xfrm>
          <a:prstGeom prst="roundRect">
            <a:avLst>
              <a:gd fmla="val 2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144"/>
          <p:cNvSpPr txBox="1"/>
          <p:nvPr/>
        </p:nvSpPr>
        <p:spPr>
          <a:xfrm>
            <a:off x="647700" y="5857875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400"/>
              </a:spcAft>
              <a:buNone/>
            </a:pPr>
            <a:r>
              <a:rPr b="1"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Conclusion: </a:t>
            </a:r>
            <a:r>
              <a:rPr b="0"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Strict adherence to these preprocessing steps ensures the final clusters represent genuine behavioral patterns rather than data noise.</a:t>
            </a:r>
            <a:endParaRPr b="1" sz="9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" name="Google Shape;1228;p1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2400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9" name="Google Shape;1229;p145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145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45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Summary</a:t>
            </a: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: Dimensionality &amp; Cluster Validation</a:t>
            </a:r>
            <a:endParaRPr b="1" sz="24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32" name="Google Shape;1232;p145"/>
          <p:cNvSpPr/>
          <p:nvPr/>
        </p:nvSpPr>
        <p:spPr>
          <a:xfrm>
            <a:off x="457200" y="1000125"/>
            <a:ext cx="8229600" cy="428700"/>
          </a:xfrm>
          <a:prstGeom prst="roundRect">
            <a:avLst>
              <a:gd fmla="val 177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45"/>
          <p:cNvSpPr txBox="1"/>
          <p:nvPr/>
        </p:nvSpPr>
        <p:spPr>
          <a:xfrm>
            <a:off x="647700" y="1000125"/>
            <a:ext cx="7848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Strategic Overview: </a:t>
            </a: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Translating high-dimensional behavior into validated, actionable business segments using PCA and ensemble clustering.</a:t>
            </a:r>
            <a:endParaRPr b="0" sz="11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4" name="Google Shape;1234;p145"/>
          <p:cNvGrpSpPr/>
          <p:nvPr/>
        </p:nvGrpSpPr>
        <p:grpSpPr>
          <a:xfrm>
            <a:off x="457200" y="1571625"/>
            <a:ext cx="2619300" cy="1714500"/>
            <a:chOff x="0" y="0"/>
            <a:chExt cx="2619300" cy="1714500"/>
          </a:xfrm>
        </p:grpSpPr>
        <p:sp>
          <p:nvSpPr>
            <p:cNvPr id="1235" name="Google Shape;1235;p145"/>
            <p:cNvSpPr/>
            <p:nvPr/>
          </p:nvSpPr>
          <p:spPr>
            <a:xfrm>
              <a:off x="0" y="0"/>
              <a:ext cx="26193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36" name="Google Shape;1236;p1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954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7" name="Google Shape;1237;p145"/>
            <p:cNvSpPr txBox="1"/>
            <p:nvPr/>
          </p:nvSpPr>
          <p:spPr>
            <a:xfrm>
              <a:off x="238125" y="142875"/>
              <a:ext cx="22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6. PCA &amp; Reduction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 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Reduce noise &amp; decorrelate features.</a:t>
              </a:r>
              <a:endParaRPr b="1" sz="8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4 components captured 98% variance.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Created Scree plots &amp; Loading analysis.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Isolated key behavioral contributors.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8" name="Google Shape;1238;p145"/>
          <p:cNvGrpSpPr/>
          <p:nvPr/>
        </p:nvGrpSpPr>
        <p:grpSpPr>
          <a:xfrm>
            <a:off x="3262313" y="1571625"/>
            <a:ext cx="2619300" cy="1714500"/>
            <a:chOff x="0" y="0"/>
            <a:chExt cx="2619300" cy="1714500"/>
          </a:xfrm>
        </p:grpSpPr>
        <p:sp>
          <p:nvSpPr>
            <p:cNvPr id="1239" name="Google Shape;1239;p145"/>
            <p:cNvSpPr/>
            <p:nvPr/>
          </p:nvSpPr>
          <p:spPr>
            <a:xfrm>
              <a:off x="0" y="0"/>
              <a:ext cx="26193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0" name="Google Shape;1240;p1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954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1" name="Google Shape;1241;p145"/>
            <p:cNvSpPr txBox="1"/>
            <p:nvPr/>
          </p:nvSpPr>
          <p:spPr>
            <a:xfrm>
              <a:off x="238125" y="142875"/>
              <a:ext cx="22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7. Clustering Algorithms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 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Identify natural groupings.</a:t>
              </a:r>
              <a:endParaRPr b="1" sz="8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K-Means: Optimal k=3 (Elbow/Silhouette).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Hierarchical: Ward linkage dendrograms.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DBSCAN: Density-based noise detection.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2" name="Google Shape;1242;p145"/>
          <p:cNvGrpSpPr/>
          <p:nvPr/>
        </p:nvGrpSpPr>
        <p:grpSpPr>
          <a:xfrm>
            <a:off x="6067425" y="1571625"/>
            <a:ext cx="2619300" cy="1714500"/>
            <a:chOff x="0" y="0"/>
            <a:chExt cx="2619300" cy="1714500"/>
          </a:xfrm>
        </p:grpSpPr>
        <p:sp>
          <p:nvSpPr>
            <p:cNvPr id="1243" name="Google Shape;1243;p145"/>
            <p:cNvSpPr/>
            <p:nvPr/>
          </p:nvSpPr>
          <p:spPr>
            <a:xfrm>
              <a:off x="0" y="0"/>
              <a:ext cx="2619300" cy="17145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4" name="Google Shape;1244;p1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95400" cy="1714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5" name="Google Shape;1245;p145"/>
            <p:cNvSpPr txBox="1"/>
            <p:nvPr/>
          </p:nvSpPr>
          <p:spPr>
            <a:xfrm>
              <a:off x="238125" y="142875"/>
              <a:ext cx="22383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8. Evaluation Metrics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 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Objective algorithm comparison.</a:t>
              </a:r>
              <a:endParaRPr b="1" sz="8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Silhouette Score: High cluster separation.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Davies-Bouldin Index: Minimized distance.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Calinski-Harabasz: Variance ratio optimization.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6" name="Google Shape;1246;p145"/>
          <p:cNvGrpSpPr/>
          <p:nvPr/>
        </p:nvGrpSpPr>
        <p:grpSpPr>
          <a:xfrm>
            <a:off x="457200" y="3429000"/>
            <a:ext cx="4000500" cy="1524000"/>
            <a:chOff x="0" y="0"/>
            <a:chExt cx="4000500" cy="1524000"/>
          </a:xfrm>
        </p:grpSpPr>
        <p:sp>
          <p:nvSpPr>
            <p:cNvPr id="1247" name="Google Shape;1247;p145"/>
            <p:cNvSpPr/>
            <p:nvPr/>
          </p:nvSpPr>
          <p:spPr>
            <a:xfrm>
              <a:off x="0" y="0"/>
              <a:ext cx="40005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48" name="Google Shape;1248;p145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0"/>
              <a:ext cx="95400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9" name="Google Shape;1249;p145"/>
            <p:cNvSpPr txBox="1"/>
            <p:nvPr/>
          </p:nvSpPr>
          <p:spPr>
            <a:xfrm>
              <a:off x="238125" y="142875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9. Profiling &amp; Interpretation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 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Translate statistics to business personas.</a:t>
              </a:r>
              <a:endParaRPr b="1" sz="8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Aggregated unscaled RFM means per cluster.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Radar charts/Box plots for segment differentiation.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Logic-based naming: 'Champions', 'At-Risk VIPs'.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0" name="Google Shape;1250;p145"/>
          <p:cNvGrpSpPr/>
          <p:nvPr/>
        </p:nvGrpSpPr>
        <p:grpSpPr>
          <a:xfrm>
            <a:off x="4686300" y="3429000"/>
            <a:ext cx="4000500" cy="1524000"/>
            <a:chOff x="0" y="0"/>
            <a:chExt cx="4000500" cy="1524000"/>
          </a:xfrm>
        </p:grpSpPr>
        <p:sp>
          <p:nvSpPr>
            <p:cNvPr id="1251" name="Google Shape;1251;p145"/>
            <p:cNvSpPr/>
            <p:nvPr/>
          </p:nvSpPr>
          <p:spPr>
            <a:xfrm>
              <a:off x="0" y="0"/>
              <a:ext cx="4000500" cy="1524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52" name="Google Shape;1252;p145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0"/>
              <a:ext cx="95400" cy="15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45"/>
            <p:cNvSpPr txBox="1"/>
            <p:nvPr/>
          </p:nvSpPr>
          <p:spPr>
            <a:xfrm>
              <a:off x="238125" y="142875"/>
              <a:ext cx="36195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10. Supervised Validation</a:t>
              </a:r>
              <a:endParaRPr b="1" sz="11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Purpose: </a:t>
              </a: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Validate cluster stability.</a:t>
              </a:r>
              <a:endParaRPr b="1" sz="8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Trained Logistic Regression (L1/L2) on labels.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95%+ Prediction Accuracy on 80/20 split.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82575" lvl="0" marL="457200" rtl="0" algn="l">
                <a:spcBef>
                  <a:spcPts val="150"/>
                </a:spcBef>
                <a:spcAft>
                  <a:spcPts val="150"/>
                </a:spcAft>
                <a:buClr>
                  <a:srgbClr val="475569"/>
                </a:buClr>
                <a:buSzPts val="850"/>
                <a:buFont typeface="Arial"/>
                <a:buChar char="●"/>
              </a:pPr>
              <a:r>
                <a:rPr b="0" lang="en-US" sz="8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Confirmed segments are stable &amp; well-defined.</a:t>
              </a:r>
              <a:endParaRPr b="0" sz="8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4" name="Google Shape;1254;p145"/>
          <p:cNvSpPr/>
          <p:nvPr/>
        </p:nvSpPr>
        <p:spPr>
          <a:xfrm>
            <a:off x="457200" y="5143500"/>
            <a:ext cx="8229600" cy="666900"/>
          </a:xfrm>
          <a:prstGeom prst="roundRect">
            <a:avLst>
              <a:gd fmla="val 1142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55" name="Google Shape;1255;p1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" y="5143500"/>
            <a:ext cx="95400" cy="666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6" name="Google Shape;1256;p145"/>
          <p:cNvSpPr txBox="1"/>
          <p:nvPr/>
        </p:nvSpPr>
        <p:spPr>
          <a:xfrm>
            <a:off x="647700" y="5143500"/>
            <a:ext cx="78486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Methodological Verdict: </a:t>
            </a:r>
            <a:r>
              <a:rPr b="0" lang="en-U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consistency between unsupervised groupings and supervised prediction accuracy confirms that the segments are not random artifacts, but robust behavioral phenotypes.</a:t>
            </a:r>
            <a:endParaRPr b="1" sz="11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7" name="Google Shape;1257;p145"/>
          <p:cNvSpPr/>
          <p:nvPr/>
        </p:nvSpPr>
        <p:spPr>
          <a:xfrm>
            <a:off x="457200" y="6000750"/>
            <a:ext cx="8229600" cy="381000"/>
          </a:xfrm>
          <a:prstGeom prst="roundRect">
            <a:avLst>
              <a:gd fmla="val 2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145"/>
          <p:cNvSpPr txBox="1"/>
          <p:nvPr/>
        </p:nvSpPr>
        <p:spPr>
          <a:xfrm>
            <a:off x="647700" y="600075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Conclusion: Applying rigorous validation metrics ensures that marketing strategies are based on statistically significant and stable customer behaviors.</a:t>
            </a:r>
            <a:endParaRPr b="0" sz="9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3" name="Google Shape;1263;p146"/>
          <p:cNvPicPr preferRelativeResize="0"/>
          <p:nvPr/>
        </p:nvPicPr>
        <p:blipFill rotWithShape="1">
          <a:blip r:embed="rId3">
            <a:alphaModFix/>
          </a:blip>
          <a:srcRect b="0" l="12503" r="12495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4" name="Google Shape;1264;p146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146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46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Executive Summary: </a:t>
            </a:r>
            <a:r>
              <a:rPr b="1" lang="en-US" sz="238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Customer Segmentation Analysis</a:t>
            </a:r>
            <a:endParaRPr b="1" sz="238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267" name="Google Shape;1267;p146"/>
          <p:cNvGrpSpPr/>
          <p:nvPr/>
        </p:nvGrpSpPr>
        <p:grpSpPr>
          <a:xfrm>
            <a:off x="457200" y="1000125"/>
            <a:ext cx="8229600" cy="571500"/>
            <a:chOff x="457200" y="1000125"/>
            <a:chExt cx="8229600" cy="571500"/>
          </a:xfrm>
        </p:grpSpPr>
        <p:sp>
          <p:nvSpPr>
            <p:cNvPr id="1268" name="Google Shape;1268;p146"/>
            <p:cNvSpPr/>
            <p:nvPr/>
          </p:nvSpPr>
          <p:spPr>
            <a:xfrm>
              <a:off x="457200" y="1000125"/>
              <a:ext cx="8229600" cy="571500"/>
            </a:xfrm>
            <a:prstGeom prst="roundRect">
              <a:avLst>
                <a:gd fmla="val 1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146"/>
            <p:cNvSpPr txBox="1"/>
            <p:nvPr/>
          </p:nvSpPr>
          <p:spPr>
            <a:xfrm>
              <a:off x="647700" y="1000125"/>
              <a:ext cx="7848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Dataset:</a:t>
              </a: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Online Retail (2010-12-01 to 2011-12-09) | </a:t>
              </a:r>
              <a:r>
                <a:rPr b="1"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Transactions:</a:t>
              </a: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358,580 | </a:t>
              </a:r>
              <a:r>
                <a:rPr b="1"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Customers Profiled:</a:t>
              </a: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4,306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Methodology:</a:t>
              </a: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K-Means (k=3) on PCA-reduced features (97.9% variance) | </a:t>
              </a:r>
              <a:r>
                <a:rPr b="1" lang="en-US" sz="11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Silhouette Score:</a:t>
              </a:r>
              <a:r>
                <a:rPr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0.404</a:t>
              </a:r>
              <a:endParaRPr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0" name="Google Shape;1270;p146"/>
          <p:cNvGrpSpPr/>
          <p:nvPr/>
        </p:nvGrpSpPr>
        <p:grpSpPr>
          <a:xfrm>
            <a:off x="457200" y="1714500"/>
            <a:ext cx="2619300" cy="2667000"/>
            <a:chOff x="457200" y="1714500"/>
            <a:chExt cx="2619300" cy="2667000"/>
          </a:xfrm>
        </p:grpSpPr>
        <p:sp>
          <p:nvSpPr>
            <p:cNvPr id="1271" name="Google Shape;1271;p146"/>
            <p:cNvSpPr/>
            <p:nvPr/>
          </p:nvSpPr>
          <p:spPr>
            <a:xfrm>
              <a:off x="457200" y="1714500"/>
              <a:ext cx="2619300" cy="2667000"/>
            </a:xfrm>
            <a:prstGeom prst="roundRect">
              <a:avLst>
                <a:gd fmla="val 2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146"/>
            <p:cNvSpPr/>
            <p:nvPr/>
          </p:nvSpPr>
          <p:spPr>
            <a:xfrm>
              <a:off x="457200" y="1714500"/>
              <a:ext cx="95400" cy="2667000"/>
            </a:xfrm>
            <a:prstGeom prst="roundRect">
              <a:avLst>
                <a:gd fmla="val 50000" name="adj"/>
              </a:avLst>
            </a:pr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146"/>
            <p:cNvSpPr txBox="1"/>
            <p:nvPr/>
          </p:nvSpPr>
          <p:spPr>
            <a:xfrm>
              <a:off x="647700" y="1857375"/>
              <a:ext cx="22383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LOST CUSTOMERS</a:t>
              </a:r>
              <a:endParaRPr b="1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Size: 1,504 (34.9%)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REVENUE CONTRIBUTION</a:t>
              </a:r>
              <a:endParaRPr b="1" sz="10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£408,699 </a:t>
              </a:r>
              <a:r>
                <a:rPr b="0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(5.3%)</a:t>
              </a:r>
              <a:endParaRPr b="1" sz="20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Avg LTV: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£272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Recency: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156 days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Frequency: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22 txn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4" name="Google Shape;1274;p146"/>
          <p:cNvGrpSpPr/>
          <p:nvPr/>
        </p:nvGrpSpPr>
        <p:grpSpPr>
          <a:xfrm>
            <a:off x="3262313" y="1714500"/>
            <a:ext cx="2619300" cy="2667000"/>
            <a:chOff x="3262313" y="1714500"/>
            <a:chExt cx="2619300" cy="2667000"/>
          </a:xfrm>
        </p:grpSpPr>
        <p:sp>
          <p:nvSpPr>
            <p:cNvPr id="1275" name="Google Shape;1275;p146"/>
            <p:cNvSpPr/>
            <p:nvPr/>
          </p:nvSpPr>
          <p:spPr>
            <a:xfrm>
              <a:off x="3262313" y="1714500"/>
              <a:ext cx="2619300" cy="2667000"/>
            </a:xfrm>
            <a:prstGeom prst="roundRect">
              <a:avLst>
                <a:gd fmla="val 2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146"/>
            <p:cNvSpPr/>
            <p:nvPr/>
          </p:nvSpPr>
          <p:spPr>
            <a:xfrm>
              <a:off x="3262313" y="1714500"/>
              <a:ext cx="95400" cy="26670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146"/>
            <p:cNvSpPr txBox="1"/>
            <p:nvPr/>
          </p:nvSpPr>
          <p:spPr>
            <a:xfrm>
              <a:off x="3452813" y="1857375"/>
              <a:ext cx="22383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45309"/>
                  </a:solidFill>
                  <a:latin typeface="Arial"/>
                  <a:ea typeface="Arial"/>
                  <a:cs typeface="Arial"/>
                  <a:sym typeface="Arial"/>
                </a:rPr>
                <a:t>AT-RISK VIPs</a:t>
              </a:r>
              <a:endParaRPr b="1" sz="140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Size: 408 (9.5%)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REVENUE CONTRIBUTION</a:t>
              </a:r>
              <a:endParaRPr b="1" sz="10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£1,676,014 </a:t>
              </a:r>
              <a:r>
                <a:rPr b="0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(21.9%)</a:t>
              </a:r>
              <a:endParaRPr b="1" sz="20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Avg LTV: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£4,108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Recency: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110 days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Frequency: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18 txn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8" name="Google Shape;1278;p146"/>
          <p:cNvGrpSpPr/>
          <p:nvPr/>
        </p:nvGrpSpPr>
        <p:grpSpPr>
          <a:xfrm>
            <a:off x="6067425" y="1714500"/>
            <a:ext cx="2619300" cy="2667000"/>
            <a:chOff x="6067425" y="1714500"/>
            <a:chExt cx="2619300" cy="2667000"/>
          </a:xfrm>
        </p:grpSpPr>
        <p:sp>
          <p:nvSpPr>
            <p:cNvPr id="1279" name="Google Shape;1279;p146"/>
            <p:cNvSpPr/>
            <p:nvPr/>
          </p:nvSpPr>
          <p:spPr>
            <a:xfrm>
              <a:off x="6067425" y="1714500"/>
              <a:ext cx="2619300" cy="2667000"/>
            </a:xfrm>
            <a:prstGeom prst="roundRect">
              <a:avLst>
                <a:gd fmla="val 290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146"/>
            <p:cNvSpPr/>
            <p:nvPr/>
          </p:nvSpPr>
          <p:spPr>
            <a:xfrm>
              <a:off x="6067425" y="1714500"/>
              <a:ext cx="95400" cy="26670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146"/>
            <p:cNvSpPr txBox="1"/>
            <p:nvPr/>
          </p:nvSpPr>
          <p:spPr>
            <a:xfrm>
              <a:off x="6257925" y="1857375"/>
              <a:ext cx="22383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CHAMPIONS</a:t>
              </a:r>
              <a:endParaRPr b="1" sz="14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Size: 2,394 (55.6%)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REVENUE CONTRIBUTION</a:t>
              </a:r>
              <a:endParaRPr b="1" sz="10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£5,560,111 </a:t>
              </a:r>
              <a:r>
                <a:rPr b="0" lang="en-US" sz="10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(72.7%)</a:t>
              </a:r>
              <a:endParaRPr b="1" sz="20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Avg LTV: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£2,323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Recency: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50 days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Frequency: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 133 txn</a:t>
              </a:r>
              <a:endParaRPr b="0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2" name="Google Shape;1282;p146"/>
          <p:cNvGrpSpPr/>
          <p:nvPr/>
        </p:nvGrpSpPr>
        <p:grpSpPr>
          <a:xfrm>
            <a:off x="457200" y="4572000"/>
            <a:ext cx="8229600" cy="1238400"/>
            <a:chOff x="457200" y="4572000"/>
            <a:chExt cx="8229600" cy="1238400"/>
          </a:xfrm>
        </p:grpSpPr>
        <p:sp>
          <p:nvSpPr>
            <p:cNvPr id="1283" name="Google Shape;1283;p146"/>
            <p:cNvSpPr/>
            <p:nvPr/>
          </p:nvSpPr>
          <p:spPr>
            <a:xfrm>
              <a:off x="457200" y="4572000"/>
              <a:ext cx="8229600" cy="12384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146"/>
            <p:cNvSpPr/>
            <p:nvPr/>
          </p:nvSpPr>
          <p:spPr>
            <a:xfrm>
              <a:off x="457200" y="4572000"/>
              <a:ext cx="95400" cy="12384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146"/>
            <p:cNvSpPr txBox="1"/>
            <p:nvPr/>
          </p:nvSpPr>
          <p:spPr>
            <a:xfrm>
              <a:off x="647700" y="4667250"/>
              <a:ext cx="78486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Supervised Learning Validation Verdict: </a:t>
              </a:r>
              <a:r>
                <a:rPr b="1" lang="en-US" sz="14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Statistically Valid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clusters were validated using supervised models with high accuracy (L2 Ridge: 0.9907 | L1 Lasso: 0.9780). This confirms that the segments are highly predictable and represent distinct, stable behavioral patterns rather than random noise.</a:t>
              </a:r>
              <a:endParaRPr b="0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6" name="Google Shape;1286;p146"/>
          <p:cNvGrpSpPr/>
          <p:nvPr/>
        </p:nvGrpSpPr>
        <p:grpSpPr>
          <a:xfrm>
            <a:off x="457200" y="6000750"/>
            <a:ext cx="8229600" cy="476400"/>
            <a:chOff x="457200" y="6000750"/>
            <a:chExt cx="8229600" cy="476400"/>
          </a:xfrm>
        </p:grpSpPr>
        <p:sp>
          <p:nvSpPr>
            <p:cNvPr id="1287" name="Google Shape;1287;p146"/>
            <p:cNvSpPr/>
            <p:nvPr/>
          </p:nvSpPr>
          <p:spPr>
            <a:xfrm>
              <a:off x="457200" y="6000750"/>
              <a:ext cx="8229600" cy="476400"/>
            </a:xfrm>
            <a:prstGeom prst="roundRect">
              <a:avLst>
                <a:gd fmla="val 16000" name="adj"/>
              </a:avLst>
            </a:prstGeom>
            <a:solidFill>
              <a:srgbClr val="EEF2F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146"/>
            <p:cNvSpPr txBox="1"/>
            <p:nvPr/>
          </p:nvSpPr>
          <p:spPr>
            <a:xfrm>
              <a:off x="647700" y="6000750"/>
              <a:ext cx="7848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Conclusion: </a:t>
              </a: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The analysis identifies a clear hierarchy of customer value, with Champions driving over 70% of revenue. High validation scores ensure these segments are robust for targeted marketing strategies.</a:t>
              </a:r>
              <a:endParaRPr b="1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47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3" name="Google Shape;1293;p147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4" name="Google Shape;1294;p147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Business Insights &amp; Strategic Recommendations</a:t>
            </a:r>
            <a:endParaRPr b="1" sz="24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295" name="Google Shape;1295;p147"/>
          <p:cNvSpPr/>
          <p:nvPr/>
        </p:nvSpPr>
        <p:spPr>
          <a:xfrm>
            <a:off x="457200" y="1000125"/>
            <a:ext cx="8229600" cy="428700"/>
          </a:xfrm>
          <a:prstGeom prst="roundRect">
            <a:avLst>
              <a:gd fmla="val 1777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147"/>
          <p:cNvSpPr txBox="1"/>
          <p:nvPr/>
        </p:nvSpPr>
        <p:spPr>
          <a:xfrm>
            <a:off x="647700" y="1000125"/>
            <a:ext cx="78486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Strategic Overview: </a:t>
            </a:r>
            <a:r>
              <a:rPr b="0" lang="en-US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Analysis of four distinct customer segments identifying unique business opportunities and targeted growth levers.</a:t>
            </a:r>
            <a:endParaRPr b="1" sz="11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97" name="Google Shape;1297;p147"/>
          <p:cNvGrpSpPr/>
          <p:nvPr/>
        </p:nvGrpSpPr>
        <p:grpSpPr>
          <a:xfrm>
            <a:off x="457200" y="1571625"/>
            <a:ext cx="4000500" cy="1762200"/>
            <a:chOff x="457200" y="1571625"/>
            <a:chExt cx="4000500" cy="1762200"/>
          </a:xfrm>
        </p:grpSpPr>
        <p:sp>
          <p:nvSpPr>
            <p:cNvPr id="1298" name="Google Shape;1298;p147"/>
            <p:cNvSpPr/>
            <p:nvPr/>
          </p:nvSpPr>
          <p:spPr>
            <a:xfrm>
              <a:off x="457200" y="1571625"/>
              <a:ext cx="40005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47"/>
            <p:cNvSpPr/>
            <p:nvPr/>
          </p:nvSpPr>
          <p:spPr>
            <a:xfrm>
              <a:off x="457200" y="1571625"/>
              <a:ext cx="95400" cy="17622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47"/>
            <p:cNvSpPr txBox="1"/>
            <p:nvPr/>
          </p:nvSpPr>
          <p:spPr>
            <a:xfrm>
              <a:off x="647700" y="1714500"/>
              <a:ext cx="3619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059669"/>
                  </a:solidFill>
                  <a:latin typeface="Arial"/>
                  <a:ea typeface="Arial"/>
                  <a:cs typeface="Arial"/>
                  <a:sym typeface="Arial"/>
                </a:rPr>
                <a:t>1. Champions</a:t>
              </a:r>
              <a:endParaRPr b="1" sz="1400">
                <a:solidFill>
                  <a:srgbClr val="0596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Priority: 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Retention &amp; Deepening Engagement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RECOMMENDED ACTIONS</a:t>
              </a:r>
              <a:endParaRPr b="1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059669"/>
                </a:buClr>
                <a:buSzPts val="1400"/>
                <a:buFont typeface="Arial"/>
                <a:buChar char="●"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VIP programs &amp; exclusive offers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059669"/>
                </a:buClr>
                <a:buSzPts val="1400"/>
                <a:buFont typeface="Arial"/>
                <a:buChar char="●"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High-touch personalized service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1" name="Google Shape;1301;p147"/>
          <p:cNvGrpSpPr/>
          <p:nvPr/>
        </p:nvGrpSpPr>
        <p:grpSpPr>
          <a:xfrm>
            <a:off x="4686300" y="1571625"/>
            <a:ext cx="4000500" cy="1762200"/>
            <a:chOff x="4686300" y="1571625"/>
            <a:chExt cx="4000500" cy="1762200"/>
          </a:xfrm>
        </p:grpSpPr>
        <p:sp>
          <p:nvSpPr>
            <p:cNvPr id="1302" name="Google Shape;1302;p147"/>
            <p:cNvSpPr/>
            <p:nvPr/>
          </p:nvSpPr>
          <p:spPr>
            <a:xfrm>
              <a:off x="4686300" y="1571625"/>
              <a:ext cx="40005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47"/>
            <p:cNvSpPr/>
            <p:nvPr/>
          </p:nvSpPr>
          <p:spPr>
            <a:xfrm>
              <a:off x="4686300" y="1571625"/>
              <a:ext cx="95400" cy="1762200"/>
            </a:xfrm>
            <a:prstGeom prst="roundRect">
              <a:avLst>
                <a:gd fmla="val 50000" name="adj"/>
              </a:avLst>
            </a:prstGeom>
            <a:solidFill>
              <a:srgbClr val="14305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47"/>
            <p:cNvSpPr txBox="1"/>
            <p:nvPr/>
          </p:nvSpPr>
          <p:spPr>
            <a:xfrm>
              <a:off x="4876800" y="1714500"/>
              <a:ext cx="3619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2. Loyal Customers</a:t>
              </a:r>
              <a:endParaRPr b="1" sz="14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Priority: 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Retention &amp; Growth in Txn Value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RECOMMENDED ACTIONS</a:t>
              </a:r>
              <a:endParaRPr b="1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14305C"/>
                </a:buClr>
                <a:buSzPts val="1400"/>
                <a:buFont typeface="Arial"/>
                <a:buChar char="●"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Loyalty rewards &amp; community engagement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14305C"/>
                </a:buClr>
                <a:buSzPts val="1400"/>
                <a:buFont typeface="Arial"/>
                <a:buChar char="●"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Strategic upsell campaigns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5" name="Google Shape;1305;p147"/>
          <p:cNvGrpSpPr/>
          <p:nvPr/>
        </p:nvGrpSpPr>
        <p:grpSpPr>
          <a:xfrm>
            <a:off x="457200" y="3476625"/>
            <a:ext cx="4000500" cy="1762200"/>
            <a:chOff x="457200" y="3476625"/>
            <a:chExt cx="4000500" cy="1762200"/>
          </a:xfrm>
        </p:grpSpPr>
        <p:sp>
          <p:nvSpPr>
            <p:cNvPr id="1306" name="Google Shape;1306;p147"/>
            <p:cNvSpPr/>
            <p:nvPr/>
          </p:nvSpPr>
          <p:spPr>
            <a:xfrm>
              <a:off x="457200" y="3476625"/>
              <a:ext cx="40005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47"/>
            <p:cNvSpPr/>
            <p:nvPr/>
          </p:nvSpPr>
          <p:spPr>
            <a:xfrm>
              <a:off x="457200" y="3476625"/>
              <a:ext cx="95400" cy="1762200"/>
            </a:xfrm>
            <a:prstGeom prst="roundRect">
              <a:avLst>
                <a:gd fmla="val 50000" name="adj"/>
              </a:avLst>
            </a:prstGeom>
            <a:solidFill>
              <a:srgbClr val="D59C3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47"/>
            <p:cNvSpPr txBox="1"/>
            <p:nvPr/>
          </p:nvSpPr>
          <p:spPr>
            <a:xfrm>
              <a:off x="647700" y="3619500"/>
              <a:ext cx="3619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B45309"/>
                  </a:solidFill>
                  <a:latin typeface="Arial"/>
                  <a:ea typeface="Arial"/>
                  <a:cs typeface="Arial"/>
                  <a:sym typeface="Arial"/>
                </a:rPr>
                <a:t>3. At-Risk VIPs</a:t>
              </a:r>
              <a:endParaRPr b="1" sz="1400">
                <a:solidFill>
                  <a:srgbClr val="B4530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Priority: 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Reactivation &amp; Churn Prevention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RECOMMENDED ACTIONS</a:t>
              </a:r>
              <a:endParaRPr b="1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B45309"/>
                </a:buClr>
                <a:buSzPts val="1400"/>
                <a:buFont typeface="Arial"/>
                <a:buChar char="●"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Targeted win-back campaigns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B45309"/>
                </a:buClr>
                <a:buSzPts val="1400"/>
                <a:buFont typeface="Arial"/>
                <a:buChar char="●"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Personalized outreach &amp; needs analysis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9" name="Google Shape;1309;p147"/>
          <p:cNvGrpSpPr/>
          <p:nvPr/>
        </p:nvGrpSpPr>
        <p:grpSpPr>
          <a:xfrm>
            <a:off x="4686300" y="3476625"/>
            <a:ext cx="4000500" cy="1762200"/>
            <a:chOff x="4686300" y="3476625"/>
            <a:chExt cx="4000500" cy="1762200"/>
          </a:xfrm>
        </p:grpSpPr>
        <p:sp>
          <p:nvSpPr>
            <p:cNvPr id="1310" name="Google Shape;1310;p147"/>
            <p:cNvSpPr/>
            <p:nvPr/>
          </p:nvSpPr>
          <p:spPr>
            <a:xfrm>
              <a:off x="4686300" y="3476625"/>
              <a:ext cx="4000500" cy="1762200"/>
            </a:xfrm>
            <a:prstGeom prst="roundRect">
              <a:avLst>
                <a:gd fmla="val 432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47"/>
            <p:cNvSpPr/>
            <p:nvPr/>
          </p:nvSpPr>
          <p:spPr>
            <a:xfrm>
              <a:off x="4686300" y="3476625"/>
              <a:ext cx="95400" cy="1762200"/>
            </a:xfrm>
            <a:prstGeom prst="roundRect">
              <a:avLst>
                <a:gd fmla="val 50000" name="adj"/>
              </a:avLst>
            </a:prstGeom>
            <a:solidFill>
              <a:srgbClr val="94A3B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47"/>
            <p:cNvSpPr txBox="1"/>
            <p:nvPr/>
          </p:nvSpPr>
          <p:spPr>
            <a:xfrm>
              <a:off x="4876800" y="3619500"/>
              <a:ext cx="3619500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4. New/Promising</a:t>
              </a:r>
              <a:endParaRPr b="1"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Priority: </a:t>
              </a:r>
              <a:r>
                <a:rPr b="0" lang="en-US" sz="100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Conversion &amp; Frequency Increase</a:t>
              </a:r>
              <a:endParaRPr b="1" sz="100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14305C"/>
                  </a:solidFill>
                  <a:latin typeface="Arial"/>
                  <a:ea typeface="Arial"/>
                  <a:cs typeface="Arial"/>
                  <a:sym typeface="Arial"/>
                </a:rPr>
                <a:t>RECOMMENDED ACTIONS</a:t>
              </a:r>
              <a:endParaRPr b="1" sz="9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40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Arial"/>
                <a:buChar char="●"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Structured onboarding &amp; product discovery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7500" lvl="0" marL="457200" rtl="0" algn="l">
                <a:spcBef>
                  <a:spcPts val="200"/>
                </a:spcBef>
                <a:spcAft>
                  <a:spcPts val="0"/>
                </a:spcAft>
                <a:buClr>
                  <a:srgbClr val="64748B"/>
                </a:buClr>
                <a:buSzPts val="1400"/>
                <a:buFont typeface="Arial"/>
                <a:buChar char="●"/>
              </a:pPr>
              <a:r>
                <a:rPr b="0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Frequency-based incentives</a:t>
              </a:r>
              <a:endParaRPr b="0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3" name="Google Shape;1313;p147"/>
          <p:cNvSpPr/>
          <p:nvPr/>
        </p:nvSpPr>
        <p:spPr>
          <a:xfrm>
            <a:off x="457200" y="5381625"/>
            <a:ext cx="8229600" cy="5715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147"/>
          <p:cNvSpPr/>
          <p:nvPr/>
        </p:nvSpPr>
        <p:spPr>
          <a:xfrm>
            <a:off x="457200" y="5381625"/>
            <a:ext cx="95400" cy="571500"/>
          </a:xfrm>
          <a:prstGeom prst="roundRect">
            <a:avLst>
              <a:gd fmla="val 50000" name="adj"/>
            </a:avLst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147"/>
          <p:cNvSpPr txBox="1"/>
          <p:nvPr/>
        </p:nvSpPr>
        <p:spPr>
          <a:xfrm>
            <a:off x="647700" y="5381625"/>
            <a:ext cx="7848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14305C"/>
                </a:solidFill>
                <a:latin typeface="Arial"/>
                <a:ea typeface="Arial"/>
                <a:cs typeface="Arial"/>
                <a:sym typeface="Arial"/>
              </a:rPr>
              <a:t>Key Findings Summary</a:t>
            </a:r>
            <a:endParaRPr b="1" sz="1100">
              <a:solidFill>
                <a:srgbClr val="14305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segmentation highlights a clear path from acquisition to advocacy. Success hinges on preventing high-value churn while systematically moving 'New' customers into 'Loyal' and 'Champion' brackets.</a:t>
            </a:r>
            <a:endParaRPr b="0" sz="10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6" name="Google Shape;1316;p147"/>
          <p:cNvSpPr/>
          <p:nvPr/>
        </p:nvSpPr>
        <p:spPr>
          <a:xfrm>
            <a:off x="457200" y="6096000"/>
            <a:ext cx="8229600" cy="381000"/>
          </a:xfrm>
          <a:prstGeom prst="roundRect">
            <a:avLst>
              <a:gd fmla="val 20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147"/>
          <p:cNvSpPr txBox="1"/>
          <p:nvPr/>
        </p:nvSpPr>
        <p:spPr>
          <a:xfrm>
            <a:off x="647700" y="6096000"/>
            <a:ext cx="78486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Conclusion: </a:t>
            </a:r>
            <a:r>
              <a:rPr b="0" lang="en-US"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Data-driven targeting across these segments will optimize marketing spend and maximize long-term customer lifetime value.</a:t>
            </a:r>
            <a:endParaRPr b="1" sz="900">
              <a:solidFill>
                <a:srgbClr val="47556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4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2" name="Google Shape;1322;p1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3" name="Google Shape;1323;p148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rgbClr val="14305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148"/>
          <p:cNvSpPr/>
          <p:nvPr/>
        </p:nvSpPr>
        <p:spPr>
          <a:xfrm>
            <a:off x="0" y="781050"/>
            <a:ext cx="9144000" cy="66600"/>
          </a:xfrm>
          <a:prstGeom prst="rect">
            <a:avLst/>
          </a:prstGeom>
          <a:solidFill>
            <a:srgbClr val="D59C3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148"/>
          <p:cNvSpPr txBox="1"/>
          <p:nvPr/>
        </p:nvSpPr>
        <p:spPr>
          <a:xfrm>
            <a:off x="457200" y="104775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Q &amp; A</a:t>
            </a:r>
            <a:endParaRPr b="1" sz="28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  <p:grpSp>
        <p:nvGrpSpPr>
          <p:cNvPr id="1326" name="Google Shape;1326;p148"/>
          <p:cNvGrpSpPr/>
          <p:nvPr/>
        </p:nvGrpSpPr>
        <p:grpSpPr>
          <a:xfrm>
            <a:off x="1714500" y="2095500"/>
            <a:ext cx="5715000" cy="3048000"/>
            <a:chOff x="0" y="0"/>
            <a:chExt cx="5715000" cy="3048000"/>
          </a:xfrm>
        </p:grpSpPr>
        <p:sp>
          <p:nvSpPr>
            <p:cNvPr id="1327" name="Google Shape;1327;p148"/>
            <p:cNvSpPr/>
            <p:nvPr/>
          </p:nvSpPr>
          <p:spPr>
            <a:xfrm>
              <a:off x="0" y="0"/>
              <a:ext cx="5715000" cy="3048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48"/>
            <p:cNvSpPr txBox="1"/>
            <p:nvPr/>
          </p:nvSpPr>
          <p:spPr>
            <a:xfrm>
              <a:off x="381000" y="571500"/>
              <a:ext cx="495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200">
                  <a:solidFill>
                    <a:srgbClr val="14305C"/>
                  </a:solidFill>
                  <a:latin typeface="Play"/>
                  <a:ea typeface="Play"/>
                  <a:cs typeface="Play"/>
                  <a:sym typeface="Play"/>
                </a:rPr>
                <a:t>Thank You!</a:t>
              </a:r>
              <a:endParaRPr b="1" sz="7200">
                <a:solidFill>
                  <a:srgbClr val="14305C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29" name="Google Shape;1329;p148"/>
            <p:cNvSpPr txBox="1"/>
            <p:nvPr/>
          </p:nvSpPr>
          <p:spPr>
            <a:xfrm>
              <a:off x="381000" y="1905000"/>
              <a:ext cx="4953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Questions are welcome.</a:t>
              </a:r>
              <a:endParaRPr b="0" sz="18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0" name="Google Shape;1330;p148"/>
          <p:cNvSpPr/>
          <p:nvPr/>
        </p:nvSpPr>
        <p:spPr>
          <a:xfrm>
            <a:off x="457200" y="6000750"/>
            <a:ext cx="8229600" cy="476400"/>
          </a:xfrm>
          <a:prstGeom prst="roundRect">
            <a:avLst>
              <a:gd fmla="val 16000" name="adj"/>
            </a:avLst>
          </a:prstGeom>
          <a:solidFill>
            <a:srgbClr val="EEF2F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